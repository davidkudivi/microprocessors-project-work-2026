
<file path=[Content_Types].xml><?xml version="1.0" encoding="utf-8"?>
<Types xmlns="http://schemas.openxmlformats.org/package/2006/content-types"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 /><Relationship Id="rId2" Type="http://schemas.openxmlformats.org/package/2006/relationships/metadata/core-properties" Target="docProps/core.xml" /><Relationship Id="rId1" Type="http://schemas.openxmlformats.org/officeDocument/2006/relationships/officeDocument" Target="ppt/presentation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5" r:id="rId10"/>
    <p:sldId id="266" r:id="rId11"/>
    <p:sldId id="267" r:id="rId12"/>
    <p:sldId id="268" r:id="rId13"/>
    <p:sldId id="270" r:id="rId14"/>
  </p:sldIdLst>
  <p:sldSz cx="12192000" cy="68580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75" d="100"/>
          <a:sy n="75" d="100"/>
        </p:scale>
        <p:origin x="94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 /><Relationship Id="rId13" Type="http://schemas.openxmlformats.org/officeDocument/2006/relationships/slide" Target="slides/slide12.xml" /><Relationship Id="rId18" Type="http://schemas.openxmlformats.org/officeDocument/2006/relationships/theme" Target="theme/theme1.xml" /><Relationship Id="rId3" Type="http://schemas.openxmlformats.org/officeDocument/2006/relationships/slide" Target="slides/slide2.xml" /><Relationship Id="rId7" Type="http://schemas.openxmlformats.org/officeDocument/2006/relationships/slide" Target="slides/slide6.xml" /><Relationship Id="rId12" Type="http://schemas.openxmlformats.org/officeDocument/2006/relationships/slide" Target="slides/slide11.xml" /><Relationship Id="rId17" Type="http://schemas.openxmlformats.org/officeDocument/2006/relationships/viewProps" Target="viewProps.xml" /><Relationship Id="rId2" Type="http://schemas.openxmlformats.org/officeDocument/2006/relationships/slide" Target="slides/slide1.xml" /><Relationship Id="rId16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slide" Target="slides/slide10.xml" /><Relationship Id="rId5" Type="http://schemas.openxmlformats.org/officeDocument/2006/relationships/slide" Target="slides/slide4.xml" /><Relationship Id="rId15" Type="http://schemas.openxmlformats.org/officeDocument/2006/relationships/notesMaster" Target="notesMasters/notesMaster1.xml" /><Relationship Id="rId10" Type="http://schemas.openxmlformats.org/officeDocument/2006/relationships/slide" Target="slides/slide9.xml" /><Relationship Id="rId19" Type="http://schemas.openxmlformats.org/officeDocument/2006/relationships/tableStyles" Target="tableStyles.xml" /><Relationship Id="rId4" Type="http://schemas.openxmlformats.org/officeDocument/2006/relationships/slide" Target="slides/slide3.xml" /><Relationship Id="rId9" Type="http://schemas.openxmlformats.org/officeDocument/2006/relationships/slide" Target="slides/slide8.xml" /><Relationship Id="rId14" Type="http://schemas.openxmlformats.org/officeDocument/2006/relationships/slide" Target="slides/slide13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919851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 /><Relationship Id="rId1" Type="http://schemas.openxmlformats.org/officeDocument/2006/relationships/notesMaster" Target="../notesMasters/notesMaster1.xml" 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 /><Relationship Id="rId1" Type="http://schemas.openxmlformats.org/officeDocument/2006/relationships/notesMaster" Target="../notesMasters/notesMaster1.xml" 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 /><Relationship Id="rId1" Type="http://schemas.openxmlformats.org/officeDocument/2006/relationships/notesMaster" Target="../notesMasters/notesMaster1.xml" 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 /><Relationship Id="rId1" Type="http://schemas.openxmlformats.org/officeDocument/2006/relationships/notesMaster" Target="../notesMasters/notesMaster1.xml" 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 /><Relationship Id="rId1" Type="http://schemas.openxmlformats.org/officeDocument/2006/relationships/notesMaster" Target="../notesMasters/notesMaster1.xml" 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 /><Relationship Id="rId1" Type="http://schemas.openxmlformats.org/officeDocument/2006/relationships/notesMaster" Target="../notesMasters/notesMaster1.xml" 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 /><Relationship Id="rId1" Type="http://schemas.openxmlformats.org/officeDocument/2006/relationships/notesMaster" Target="../notesMasters/notesMaster1.xml" 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 /><Relationship Id="rId1" Type="http://schemas.openxmlformats.org/officeDocument/2006/relationships/notesMaster" Target="../notesMasters/notesMaster1.xml" 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 /><Relationship Id="rId1" Type="http://schemas.openxmlformats.org/officeDocument/2006/relationships/notesMaster" Target="../notesMasters/notesMaster1.xml" 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 /><Relationship Id="rId1" Type="http://schemas.openxmlformats.org/officeDocument/2006/relationships/notesMaster" Target="../notesMasters/notesMaster1.xml" 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 /><Relationship Id="rId1" Type="http://schemas.openxmlformats.org/officeDocument/2006/relationships/notesMaster" Target="../notesMasters/notesMaster1.xml" 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 /><Relationship Id="rId1" Type="http://schemas.openxmlformats.org/officeDocument/2006/relationships/slideLayout" Target="../slideLayouts/slideLayout1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ctr">
        <a:defRPr sz="4400" b="1">
          <a:solidFill>
            <a:schemeClr val="tx1"/>
          </a:solidFill>
          <a:latin typeface="Century Gothic"/>
        </a:defRPr>
      </a:lvl1pPr>
    </p:titleStyle>
    <p:bodyStyle>
      <a:lvl1pPr>
        <a:defRPr sz="2800">
          <a:solidFill>
            <a:schemeClr val="tx1"/>
          </a:solidFill>
          <a:latin typeface="Century Gothic"/>
        </a:defRPr>
      </a:lvl1pPr>
    </p:bodyStyle>
    <p:otherStyle>
      <a:lvl1pPr>
        <a:defRPr>
          <a:latin typeface="Century Gothic"/>
        </a:defRPr>
      </a:lvl1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 /><Relationship Id="rId2" Type="http://schemas.openxmlformats.org/officeDocument/2006/relationships/notesSlide" Target="../notesSlides/notesSlide1.xml" /><Relationship Id="rId1" Type="http://schemas.openxmlformats.org/officeDocument/2006/relationships/slideLayout" Target="../slideLayouts/slideLayout1.xml" 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 /><Relationship Id="rId2" Type="http://schemas.openxmlformats.org/officeDocument/2006/relationships/notesSlide" Target="../notesSlides/notesSlide2.xml" /><Relationship Id="rId1" Type="http://schemas.openxmlformats.org/officeDocument/2006/relationships/slideLayout" Target="../slideLayouts/slideLayout1.xml" 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 /><Relationship Id="rId2" Type="http://schemas.openxmlformats.org/officeDocument/2006/relationships/notesSlide" Target="../notesSlides/notesSlide3.xml" /><Relationship Id="rId1" Type="http://schemas.openxmlformats.org/officeDocument/2006/relationships/slideLayout" Target="../slideLayouts/slideLayout1.xml" 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 /><Relationship Id="rId2" Type="http://schemas.openxmlformats.org/officeDocument/2006/relationships/notesSlide" Target="../notesSlides/notesSlide4.xml" /><Relationship Id="rId1" Type="http://schemas.openxmlformats.org/officeDocument/2006/relationships/slideLayout" Target="../slideLayouts/slideLayout1.xml" /><Relationship Id="rId4" Type="http://schemas.openxmlformats.org/officeDocument/2006/relationships/image" Target="../media/image2.png" 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 /><Relationship Id="rId7" Type="http://schemas.openxmlformats.org/officeDocument/2006/relationships/image" Target="../media/image6.png" /><Relationship Id="rId2" Type="http://schemas.openxmlformats.org/officeDocument/2006/relationships/notesSlide" Target="../notesSlides/notesSlide5.xml" /><Relationship Id="rId1" Type="http://schemas.openxmlformats.org/officeDocument/2006/relationships/slideLayout" Target="../slideLayouts/slideLayout1.xml" /><Relationship Id="rId6" Type="http://schemas.openxmlformats.org/officeDocument/2006/relationships/image" Target="../media/image5.png" /><Relationship Id="rId5" Type="http://schemas.openxmlformats.org/officeDocument/2006/relationships/image" Target="../media/image4.png" /><Relationship Id="rId4" Type="http://schemas.openxmlformats.org/officeDocument/2006/relationships/image" Target="../media/image3.png" 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 /><Relationship Id="rId2" Type="http://schemas.openxmlformats.org/officeDocument/2006/relationships/notesSlide" Target="../notesSlides/notesSlide6.xml" /><Relationship Id="rId1" Type="http://schemas.openxmlformats.org/officeDocument/2006/relationships/slideLayout" Target="../slideLayouts/slideLayout1.xml" 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 /><Relationship Id="rId2" Type="http://schemas.openxmlformats.org/officeDocument/2006/relationships/notesSlide" Target="../notesSlides/notesSlide7.xml" /><Relationship Id="rId1" Type="http://schemas.openxmlformats.org/officeDocument/2006/relationships/slideLayout" Target="../slideLayouts/slideLayout1.xml" 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 /><Relationship Id="rId2" Type="http://schemas.openxmlformats.org/officeDocument/2006/relationships/notesSlide" Target="../notesSlides/notesSlide8.xml" /><Relationship Id="rId1" Type="http://schemas.openxmlformats.org/officeDocument/2006/relationships/slideLayout" Target="../slideLayouts/slideLayout1.xml" 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 /><Relationship Id="rId2" Type="http://schemas.openxmlformats.org/officeDocument/2006/relationships/notesSlide" Target="../notesSlides/notesSlide9.xml" /><Relationship Id="rId1" Type="http://schemas.openxmlformats.org/officeDocument/2006/relationships/slideLayout" Target="../slideLayouts/slideLayout1.xml" 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 /><Relationship Id="rId2" Type="http://schemas.openxmlformats.org/officeDocument/2006/relationships/notesSlide" Target="../notesSlides/notesSlide10.xml" /><Relationship Id="rId1" Type="http://schemas.openxmlformats.org/officeDocument/2006/relationships/slideLayout" Target="../slideLayouts/slideLayout1.xml" 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 /><Relationship Id="rId2" Type="http://schemas.openxmlformats.org/officeDocument/2006/relationships/video" Target="../media/media1.mp4" /><Relationship Id="rId1" Type="http://schemas.microsoft.com/office/2007/relationships/media" Target="../media/media1.mp4" /><Relationship Id="rId6" Type="http://schemas.openxmlformats.org/officeDocument/2006/relationships/image" Target="../media/image7.png" /><Relationship Id="rId5" Type="http://schemas.openxmlformats.org/officeDocument/2006/relationships/image" Target="../media/image1.jpg" /><Relationship Id="rId4" Type="http://schemas.openxmlformats.org/officeDocument/2006/relationships/notesSlide" Target="../notesSlides/notesSlide11.xml" 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 /><Relationship Id="rId2" Type="http://schemas.openxmlformats.org/officeDocument/2006/relationships/notesSlide" Target="../notesSlides/notesSlide12.xml" /><Relationship Id="rId1" Type="http://schemas.openxmlformats.org/officeDocument/2006/relationships/slideLayout" Target="../slideLayouts/slideLayout1.xml" 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 /><Relationship Id="rId1" Type="http://schemas.openxmlformats.org/officeDocument/2006/relationships/slideLayout" Target="../slideLayouts/slideLayout1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0" name="Backgroun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1" name="TitleBar"/>
          <p:cNvSpPr txBox="1"/>
          <p:nvPr/>
        </p:nvSpPr>
        <p:spPr>
          <a:xfrm>
            <a:off x="914400" y="0"/>
            <a:ext cx="10549618" cy="907941"/>
          </a:xfrm>
          <a:prstGeom prst="rect">
            <a:avLst/>
          </a:prstGeom>
          <a:solidFill>
            <a:srgbClr val="006400"/>
          </a:solidFill>
        </p:spPr>
        <p:txBody>
          <a:bodyPr wrap="square" lIns="91440" tIns="45720" rIns="91440" bIns="0" rtlCol="0">
            <a:spAutoFit/>
          </a:bodyPr>
          <a:lstStyle/>
          <a:p>
            <a:pPr algn="ctr"/>
            <a:r>
              <a:rPr lang="en-US" sz="2800" b="1" dirty="0">
                <a:solidFill>
                  <a:srgbClr val="FFFFFF"/>
                </a:solidFill>
                <a:latin typeface="Century Gothic"/>
              </a:rPr>
              <a:t>COE 381 — Microprocessors  |  Computer Engineering  |  Project Report</a:t>
            </a:r>
          </a:p>
        </p:txBody>
      </p:sp>
      <p:sp>
        <p:nvSpPr>
          <p:cNvPr id="102" name="ContentBox"/>
          <p:cNvSpPr txBox="1"/>
          <p:nvPr/>
        </p:nvSpPr>
        <p:spPr>
          <a:xfrm>
            <a:off x="3352800" y="1092200"/>
            <a:ext cx="5486400" cy="48320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182880" tIns="91440" rIns="182880" bIns="91440" rtlCol="0">
            <a:normAutofit/>
          </a:bodyPr>
          <a:lstStyle/>
          <a:p>
            <a:pPr algn="ctr"/>
            <a:r>
              <a:rPr lang="en-US" sz="3200" b="1" i="0" dirty="0">
                <a:solidFill>
                  <a:srgbClr val="006400"/>
                </a:solidFill>
                <a:latin typeface="Century Gothic"/>
              </a:rPr>
              <a:t>Microprocessor-Based</a:t>
            </a:r>
          </a:p>
          <a:p>
            <a:pPr algn="ctr"/>
            <a:r>
              <a:rPr lang="en-US" sz="3600" b="1" i="0" dirty="0">
                <a:solidFill>
                  <a:srgbClr val="006400"/>
                </a:solidFill>
                <a:latin typeface="Century Gothic"/>
              </a:rPr>
              <a:t>Smart Energy Monitor</a:t>
            </a:r>
          </a:p>
          <a:p>
            <a:pPr algn="ctr"/>
            <a:r>
              <a:rPr lang="en-US" sz="2800" b="1" i="0" dirty="0">
                <a:solidFill>
                  <a:srgbClr val="006400"/>
                </a:solidFill>
                <a:latin typeface="Century Gothic"/>
              </a:rPr>
              <a:t>with Overload Protection</a:t>
            </a:r>
          </a:p>
          <a:p>
            <a:pPr algn="ctr"/>
            <a:r>
              <a:rPr lang="en-US" sz="600" dirty="0">
                <a:latin typeface="Century Gothic"/>
              </a:rPr>
              <a:t> </a:t>
            </a:r>
          </a:p>
          <a:p>
            <a:pPr algn="ctr"/>
            <a:r>
              <a:rPr lang="en-US" sz="400" dirty="0">
                <a:latin typeface="Century Gothic"/>
              </a:rPr>
              <a:t> </a:t>
            </a:r>
          </a:p>
          <a:p>
            <a:pPr algn="ctr"/>
            <a:r>
              <a:rPr lang="en-US" sz="2000" b="1" i="0" dirty="0">
                <a:solidFill>
                  <a:srgbClr val="006400"/>
                </a:solidFill>
                <a:latin typeface="Century Gothic"/>
              </a:rPr>
              <a:t>GROUP 10</a:t>
            </a:r>
          </a:p>
          <a:p>
            <a:pPr algn="ctr"/>
            <a:r>
              <a:rPr lang="en-US" sz="1500" b="0" i="0" dirty="0">
                <a:solidFill>
                  <a:srgbClr val="333333"/>
                </a:solidFill>
                <a:latin typeface="Century Gothic"/>
              </a:rPr>
              <a:t>Fredrick Banu-Benser 7320123  </a:t>
            </a:r>
            <a:endParaRPr lang="en-US" sz="1500" dirty="0">
              <a:solidFill>
                <a:srgbClr val="333333"/>
              </a:solidFill>
              <a:latin typeface="Century Gothic"/>
            </a:endParaRPr>
          </a:p>
          <a:p>
            <a:pPr algn="ctr"/>
            <a:r>
              <a:rPr lang="en-US" sz="1500" b="0" i="0" dirty="0" err="1">
                <a:solidFill>
                  <a:srgbClr val="333333"/>
                </a:solidFill>
                <a:latin typeface="Century Gothic"/>
              </a:rPr>
              <a:t>Asamoah</a:t>
            </a:r>
            <a:r>
              <a:rPr lang="en-US" sz="1500" b="0" i="0" dirty="0">
                <a:solidFill>
                  <a:srgbClr val="333333"/>
                </a:solidFill>
                <a:latin typeface="Century Gothic"/>
              </a:rPr>
              <a:t> Gihda 7316423  </a:t>
            </a:r>
            <a:endParaRPr lang="en-US" sz="1500" dirty="0">
              <a:solidFill>
                <a:srgbClr val="333333"/>
              </a:solidFill>
              <a:latin typeface="Century Gothic"/>
            </a:endParaRPr>
          </a:p>
          <a:p>
            <a:pPr algn="ctr"/>
            <a:r>
              <a:rPr lang="en-US" sz="1500" b="0" i="0" dirty="0" err="1">
                <a:solidFill>
                  <a:srgbClr val="333333"/>
                </a:solidFill>
                <a:latin typeface="Century Gothic"/>
              </a:rPr>
              <a:t>Asempa</a:t>
            </a:r>
            <a:r>
              <a:rPr lang="en-US" sz="1500" b="0" i="0" dirty="0">
                <a:solidFill>
                  <a:srgbClr val="333333"/>
                </a:solidFill>
                <a:latin typeface="Century Gothic"/>
              </a:rPr>
              <a:t> Seyram 7317323</a:t>
            </a:r>
          </a:p>
          <a:p>
            <a:pPr algn="ctr"/>
            <a:r>
              <a:rPr lang="en-US" sz="1500" b="0" i="0" dirty="0">
                <a:solidFill>
                  <a:srgbClr val="333333"/>
                </a:solidFill>
                <a:latin typeface="Century Gothic"/>
              </a:rPr>
              <a:t>Nana Kojo Awuku 7318623  </a:t>
            </a:r>
          </a:p>
          <a:p>
            <a:pPr algn="ctr"/>
            <a:r>
              <a:rPr lang="en-US" sz="1500" b="0" i="0" dirty="0" err="1">
                <a:solidFill>
                  <a:srgbClr val="333333"/>
                </a:solidFill>
                <a:latin typeface="Century Gothic"/>
              </a:rPr>
              <a:t>Asamoah</a:t>
            </a:r>
            <a:r>
              <a:rPr lang="en-US" sz="1500" b="0" i="0" dirty="0">
                <a:solidFill>
                  <a:srgbClr val="333333"/>
                </a:solidFill>
                <a:latin typeface="Century Gothic"/>
              </a:rPr>
              <a:t> Edmond Ohene Kyere 7316323  </a:t>
            </a:r>
          </a:p>
          <a:p>
            <a:pPr algn="ctr"/>
            <a:r>
              <a:rPr lang="en-US" sz="1500" b="0" i="0" dirty="0" err="1">
                <a:solidFill>
                  <a:srgbClr val="333333"/>
                </a:solidFill>
                <a:latin typeface="Century Gothic"/>
              </a:rPr>
              <a:t>Elisah</a:t>
            </a:r>
            <a:r>
              <a:rPr lang="en-US" sz="1500" b="0" i="0" dirty="0">
                <a:solidFill>
                  <a:srgbClr val="333333"/>
                </a:solidFill>
                <a:latin typeface="Century Gothic"/>
              </a:rPr>
              <a:t> Ayeh 7318723</a:t>
            </a:r>
          </a:p>
          <a:p>
            <a:pPr algn="ctr"/>
            <a:r>
              <a:rPr lang="en-US" sz="1500" b="0" i="0" dirty="0">
                <a:solidFill>
                  <a:srgbClr val="333333"/>
                </a:solidFill>
                <a:latin typeface="Century Gothic"/>
              </a:rPr>
              <a:t>Atinbere Melina Blessing 7317923  </a:t>
            </a:r>
          </a:p>
          <a:p>
            <a:pPr algn="ctr"/>
            <a:r>
              <a:rPr lang="en-US" sz="1500" b="0" i="0" dirty="0" err="1">
                <a:solidFill>
                  <a:srgbClr val="333333"/>
                </a:solidFill>
                <a:latin typeface="Century Gothic"/>
              </a:rPr>
              <a:t>Asamoah</a:t>
            </a:r>
            <a:r>
              <a:rPr lang="en-US" sz="1500" b="0" i="0" dirty="0">
                <a:solidFill>
                  <a:srgbClr val="333333"/>
                </a:solidFill>
                <a:latin typeface="Century Gothic"/>
              </a:rPr>
              <a:t> Sally Konadu 7316523  </a:t>
            </a:r>
          </a:p>
          <a:p>
            <a:pPr algn="ctr"/>
            <a:r>
              <a:rPr lang="en-US" sz="1500" b="0" i="0" dirty="0">
                <a:solidFill>
                  <a:srgbClr val="333333"/>
                </a:solidFill>
                <a:latin typeface="Century Gothic"/>
              </a:rPr>
              <a:t>David Kudivi Azare 7319023</a:t>
            </a:r>
          </a:p>
          <a:p>
            <a:pPr algn="ctr"/>
            <a:r>
              <a:rPr lang="en-US" sz="400" dirty="0">
                <a:latin typeface="Century Gothic"/>
              </a:rPr>
              <a:t> </a:t>
            </a:r>
          </a:p>
          <a:p>
            <a:pPr algn="ctr"/>
            <a:r>
              <a:rPr lang="en-US" sz="1800" b="1" i="0" dirty="0">
                <a:solidFill>
                  <a:srgbClr val="8B0000"/>
                </a:solidFill>
                <a:latin typeface="Century Gothic"/>
              </a:rPr>
              <a:t>KWAME NKRUMAH UNIVERSITY OF SCIENCE AND TECHNOLOGY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0" name="Backgroun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60" y="0"/>
            <a:ext cx="12192000" cy="6858000"/>
          </a:xfrm>
          <a:prstGeom prst="rect">
            <a:avLst/>
          </a:prstGeom>
        </p:spPr>
      </p:pic>
      <p:sp>
        <p:nvSpPr>
          <p:cNvPr id="101" name="TitleBar"/>
          <p:cNvSpPr txBox="1"/>
          <p:nvPr/>
        </p:nvSpPr>
        <p:spPr>
          <a:xfrm>
            <a:off x="710293" y="0"/>
            <a:ext cx="10768693" cy="477054"/>
          </a:xfrm>
          <a:prstGeom prst="rect">
            <a:avLst/>
          </a:prstGeom>
          <a:solidFill>
            <a:srgbClr val="006400"/>
          </a:solidFill>
        </p:spPr>
        <p:txBody>
          <a:bodyPr wrap="square" lIns="91440" tIns="45720" rIns="91440" bIns="0" rtlCol="0">
            <a:spAutoFit/>
          </a:bodyPr>
          <a:lstStyle/>
          <a:p>
            <a:pPr algn="ctr"/>
            <a:r>
              <a:rPr lang="en-US" sz="2800" b="1" dirty="0">
                <a:solidFill>
                  <a:srgbClr val="FFFFFF"/>
                </a:solidFill>
                <a:latin typeface="Century Gothic"/>
              </a:rPr>
              <a:t>Table of Contents</a:t>
            </a:r>
          </a:p>
        </p:txBody>
      </p:sp>
      <p:sp>
        <p:nvSpPr>
          <p:cNvPr id="102" name="ContentBox"/>
          <p:cNvSpPr txBox="1"/>
          <p:nvPr/>
        </p:nvSpPr>
        <p:spPr>
          <a:xfrm>
            <a:off x="914400" y="2029000"/>
            <a:ext cx="5090160" cy="28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182880" tIns="91440" rIns="182880" bIns="91440" rtlCol="0">
            <a:normAutofit/>
          </a:bodyPr>
          <a:lstStyle/>
          <a:p>
            <a:pPr algn="l"/>
            <a:r>
              <a:rPr lang="en-US" sz="2000" b="1" i="0" dirty="0">
                <a:solidFill>
                  <a:srgbClr val="006400"/>
                </a:solidFill>
                <a:latin typeface="Century Gothic"/>
              </a:rPr>
              <a:t>01  Problem Statement</a:t>
            </a:r>
          </a:p>
          <a:p>
            <a:pPr algn="l"/>
            <a:r>
              <a:rPr lang="en-US" sz="1700" b="0" i="0" dirty="0">
                <a:solidFill>
                  <a:srgbClr val="222222"/>
                </a:solidFill>
                <a:latin typeface="Century Gothic"/>
              </a:rPr>
              <a:t>Energy waste, overload hazards, no usage tracking</a:t>
            </a:r>
          </a:p>
          <a:p>
            <a:r>
              <a:rPr lang="en-US" sz="800" dirty="0">
                <a:latin typeface="Century Gothic"/>
              </a:rPr>
              <a:t> </a:t>
            </a:r>
          </a:p>
          <a:p>
            <a:pPr algn="l"/>
            <a:r>
              <a:rPr lang="en-US" sz="2000" b="1" i="0" dirty="0">
                <a:solidFill>
                  <a:srgbClr val="006400"/>
                </a:solidFill>
                <a:latin typeface="Century Gothic"/>
              </a:rPr>
              <a:t>02  </a:t>
            </a:r>
            <a:r>
              <a:rPr lang="en-US" sz="2000" b="1" dirty="0">
                <a:solidFill>
                  <a:srgbClr val="006400"/>
                </a:solidFill>
                <a:latin typeface="Century Gothic"/>
              </a:rPr>
              <a:t>System Overview</a:t>
            </a:r>
            <a:endParaRPr lang="en-US" sz="2000" b="1" i="0" dirty="0">
              <a:solidFill>
                <a:srgbClr val="006400"/>
              </a:solidFill>
              <a:latin typeface="Century Gothic"/>
            </a:endParaRPr>
          </a:p>
          <a:p>
            <a:pPr algn="l"/>
            <a:r>
              <a:rPr lang="en-US" sz="1700" b="0" i="0" dirty="0" err="1">
                <a:solidFill>
                  <a:srgbClr val="222222"/>
                </a:solidFill>
                <a:latin typeface="Century Gothic"/>
              </a:rPr>
              <a:t>Ardurino</a:t>
            </a:r>
            <a:r>
              <a:rPr lang="en-US" sz="1700" b="0" i="0" dirty="0">
                <a:solidFill>
                  <a:srgbClr val="222222"/>
                </a:solidFill>
                <a:latin typeface="Century Gothic"/>
              </a:rPr>
              <a:t> overlook, Hardware </a:t>
            </a:r>
          </a:p>
          <a:p>
            <a:r>
              <a:rPr lang="en-US" sz="800" dirty="0">
                <a:latin typeface="Century Gothic"/>
              </a:rPr>
              <a:t> </a:t>
            </a:r>
          </a:p>
          <a:p>
            <a:pPr algn="l"/>
            <a:r>
              <a:rPr lang="en-US" sz="2000" b="1" i="0" dirty="0">
                <a:solidFill>
                  <a:srgbClr val="006400"/>
                </a:solidFill>
                <a:latin typeface="Century Gothic"/>
              </a:rPr>
              <a:t>03  System Architecture</a:t>
            </a:r>
          </a:p>
          <a:p>
            <a:pPr algn="l"/>
            <a:r>
              <a:rPr lang="en-US" sz="1700" b="0" i="0" dirty="0">
                <a:solidFill>
                  <a:srgbClr val="222222"/>
                </a:solidFill>
                <a:latin typeface="Century Gothic"/>
              </a:rPr>
              <a:t>Block diagram, components, and pin assignments</a:t>
            </a:r>
          </a:p>
        </p:txBody>
      </p:sp>
      <p:sp>
        <p:nvSpPr>
          <p:cNvPr id="2" name="ContentBox"/>
          <p:cNvSpPr txBox="1"/>
          <p:nvPr/>
        </p:nvSpPr>
        <p:spPr>
          <a:xfrm>
            <a:off x="6244590" y="2029000"/>
            <a:ext cx="5090160" cy="28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182880" tIns="91440" rIns="182880" bIns="91440" rtlCol="0">
            <a:normAutofit lnSpcReduction="10000"/>
          </a:bodyPr>
          <a:lstStyle/>
          <a:p>
            <a:pPr algn="l"/>
            <a:r>
              <a:rPr lang="en-US" sz="2000" b="1" i="0" dirty="0">
                <a:solidFill>
                  <a:srgbClr val="006400"/>
                </a:solidFill>
                <a:latin typeface="Century Gothic"/>
              </a:rPr>
              <a:t>04  Circuit &amp; Code</a:t>
            </a:r>
          </a:p>
          <a:p>
            <a:pPr algn="l"/>
            <a:r>
              <a:rPr lang="en-US" sz="1700" b="0" i="0" dirty="0">
                <a:solidFill>
                  <a:srgbClr val="222222"/>
                </a:solidFill>
                <a:latin typeface="Century Gothic"/>
              </a:rPr>
              <a:t>TinkerCad assembly + Arduino firmware overview</a:t>
            </a:r>
          </a:p>
          <a:p>
            <a:r>
              <a:rPr lang="en-US" sz="800" dirty="0">
                <a:latin typeface="Century Gothic"/>
              </a:rPr>
              <a:t> </a:t>
            </a:r>
          </a:p>
          <a:p>
            <a:pPr algn="l"/>
            <a:r>
              <a:rPr lang="en-US" sz="2000" b="1" i="0" dirty="0">
                <a:solidFill>
                  <a:srgbClr val="006400"/>
                </a:solidFill>
                <a:latin typeface="Century Gothic"/>
              </a:rPr>
              <a:t>05  Demonstration</a:t>
            </a:r>
          </a:p>
          <a:p>
            <a:pPr algn="l"/>
            <a:r>
              <a:rPr lang="en-US" sz="1700" b="0" i="0" dirty="0">
                <a:solidFill>
                  <a:srgbClr val="222222"/>
                </a:solidFill>
                <a:latin typeface="Century Gothic"/>
              </a:rPr>
              <a:t>Normal operation, overload tests, output verifications</a:t>
            </a:r>
          </a:p>
          <a:p>
            <a:r>
              <a:rPr lang="en-US" sz="800" dirty="0">
                <a:latin typeface="Century Gothic"/>
              </a:rPr>
              <a:t> </a:t>
            </a:r>
          </a:p>
          <a:p>
            <a:pPr algn="l"/>
            <a:r>
              <a:rPr lang="en-US" sz="2000" b="1" i="0" dirty="0">
                <a:solidFill>
                  <a:srgbClr val="006400"/>
                </a:solidFill>
                <a:latin typeface="Century Gothic"/>
              </a:rPr>
              <a:t>06  Conclusion</a:t>
            </a:r>
          </a:p>
          <a:p>
            <a:pPr algn="l"/>
            <a:r>
              <a:rPr lang="en-US" sz="1700" b="0" i="0" dirty="0">
                <a:solidFill>
                  <a:srgbClr val="222222"/>
                </a:solidFill>
                <a:latin typeface="Century Gothic"/>
              </a:rPr>
              <a:t>Findings, challenges, improvements, and real-world path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0" name="Backgroun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64" y="0"/>
            <a:ext cx="12192000" cy="6858000"/>
          </a:xfrm>
          <a:prstGeom prst="rect">
            <a:avLst/>
          </a:prstGeom>
        </p:spPr>
      </p:pic>
      <p:sp>
        <p:nvSpPr>
          <p:cNvPr id="101" name="TitleBar"/>
          <p:cNvSpPr txBox="1"/>
          <p:nvPr/>
        </p:nvSpPr>
        <p:spPr>
          <a:xfrm>
            <a:off x="914400" y="16042"/>
            <a:ext cx="10363200" cy="754053"/>
          </a:xfrm>
          <a:prstGeom prst="rect">
            <a:avLst/>
          </a:prstGeom>
          <a:solidFill>
            <a:srgbClr val="006400"/>
          </a:solidFill>
        </p:spPr>
        <p:txBody>
          <a:bodyPr wrap="square" lIns="91440" tIns="45720" rIns="91440" bIns="0" rtlCol="0">
            <a:spAutoFit/>
          </a:bodyPr>
          <a:lstStyle/>
          <a:p>
            <a:pPr algn="ctr"/>
            <a:r>
              <a:rPr lang="en-US" sz="2800" b="1" dirty="0">
                <a:solidFill>
                  <a:srgbClr val="FFFFFF"/>
                </a:solidFill>
                <a:latin typeface="Century Gothic"/>
              </a:rPr>
              <a:t>Problem Statement</a:t>
            </a:r>
            <a:br>
              <a:rPr lang="en-US" sz="1800" dirty="0">
                <a:latin typeface="Century Gothic"/>
              </a:rPr>
            </a:br>
            <a:endParaRPr lang="en-US" sz="1800" b="0" dirty="0">
              <a:solidFill>
                <a:srgbClr val="FFFFFF"/>
              </a:solidFill>
              <a:latin typeface="Century Gothic"/>
            </a:endParaRPr>
          </a:p>
        </p:txBody>
      </p:sp>
      <p:sp>
        <p:nvSpPr>
          <p:cNvPr id="102" name="ContentBox"/>
          <p:cNvSpPr txBox="1"/>
          <p:nvPr/>
        </p:nvSpPr>
        <p:spPr>
          <a:xfrm>
            <a:off x="914400" y="838200"/>
            <a:ext cx="5090160" cy="48320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182880" tIns="91440" rIns="182880" bIns="91440" rtlCol="0">
            <a:normAutofit/>
          </a:bodyPr>
          <a:lstStyle/>
          <a:p>
            <a:pPr algn="l"/>
            <a:r>
              <a:rPr lang="en-US" sz="2000" b="1" i="0" dirty="0">
                <a:solidFill>
                  <a:srgbClr val="006400"/>
                </a:solidFill>
                <a:latin typeface="Century Gothic"/>
              </a:rPr>
              <a:t>Unmonitored Energy</a:t>
            </a:r>
          </a:p>
          <a:p>
            <a:pPr algn="l"/>
            <a:r>
              <a:rPr lang="en-US" sz="1700" b="0" i="0" dirty="0">
                <a:solidFill>
                  <a:srgbClr val="222222"/>
                </a:solidFill>
                <a:latin typeface="Century Gothic"/>
              </a:rPr>
              <a:t>No real-time per-device visibility into power draw. Households and businesses waste electricity with no way to identify high-consumption appliances.</a:t>
            </a:r>
          </a:p>
          <a:p>
            <a:r>
              <a:rPr lang="en-US" sz="800" dirty="0">
                <a:latin typeface="Century Gothic"/>
              </a:rPr>
              <a:t> </a:t>
            </a:r>
          </a:p>
          <a:p>
            <a:pPr algn="l"/>
            <a:r>
              <a:rPr lang="en-US" sz="2000" b="1" i="0" dirty="0">
                <a:solidFill>
                  <a:srgbClr val="006400"/>
                </a:solidFill>
                <a:latin typeface="Century Gothic"/>
              </a:rPr>
              <a:t>Overload Hazards</a:t>
            </a:r>
          </a:p>
          <a:p>
            <a:pPr algn="l"/>
            <a:r>
              <a:rPr lang="en-US" sz="1700" b="0" i="0" dirty="0">
                <a:solidFill>
                  <a:srgbClr val="222222"/>
                </a:solidFill>
                <a:latin typeface="Century Gothic"/>
              </a:rPr>
              <a:t>Devices exceeding current thresholds cause overheating, equipment damage, and electrical fires. Without automatic cut-off, damage is inevitable.</a:t>
            </a:r>
          </a:p>
          <a:p>
            <a:r>
              <a:rPr lang="en-US" sz="800" dirty="0">
                <a:latin typeface="Century Gothic"/>
              </a:rPr>
              <a:t> </a:t>
            </a:r>
          </a:p>
          <a:p>
            <a:pPr algn="l"/>
            <a:r>
              <a:rPr lang="en-US" sz="2000" b="1" i="0" dirty="0">
                <a:solidFill>
                  <a:srgbClr val="006400"/>
                </a:solidFill>
                <a:latin typeface="Century Gothic"/>
              </a:rPr>
              <a:t>No Usage Records</a:t>
            </a:r>
          </a:p>
          <a:p>
            <a:pPr algn="l"/>
            <a:r>
              <a:rPr lang="en-US" sz="1700" b="0" i="0" dirty="0">
                <a:solidFill>
                  <a:srgbClr val="222222"/>
                </a:solidFill>
                <a:latin typeface="Century Gothic"/>
              </a:rPr>
              <a:t>Without Wh accumulation, users cannot track energy over time, compare device costs, or plan load management for cost reduction.</a:t>
            </a:r>
          </a:p>
        </p:txBody>
      </p:sp>
      <p:sp>
        <p:nvSpPr>
          <p:cNvPr id="2" name="ContentBox"/>
          <p:cNvSpPr txBox="1"/>
          <p:nvPr/>
        </p:nvSpPr>
        <p:spPr>
          <a:xfrm>
            <a:off x="6195604" y="838200"/>
            <a:ext cx="5090160" cy="48320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182880" tIns="91440" rIns="182880" bIns="91440" rtlCol="0">
            <a:normAutofit/>
          </a:bodyPr>
          <a:lstStyle/>
          <a:p>
            <a:pPr algn="l"/>
            <a:r>
              <a:rPr lang="en-US" sz="2000" b="1" i="0" dirty="0">
                <a:solidFill>
                  <a:srgbClr val="8B0000"/>
                </a:solidFill>
                <a:latin typeface="Century Gothic"/>
              </a:rPr>
              <a:t>Solution</a:t>
            </a:r>
          </a:p>
          <a:p>
            <a:pPr algn="l"/>
            <a:r>
              <a:rPr lang="en-US" sz="1700" b="0" i="0" dirty="0">
                <a:solidFill>
                  <a:srgbClr val="222222"/>
                </a:solidFill>
                <a:latin typeface="Century Gothic"/>
              </a:rPr>
              <a:t>Arduino-based smart monitor with:</a:t>
            </a:r>
          </a:p>
          <a:p>
            <a:r>
              <a:rPr lang="en-US" sz="400" dirty="0">
                <a:latin typeface="Century Gothic"/>
              </a:rPr>
              <a:t> </a:t>
            </a:r>
          </a:p>
          <a:p>
            <a:pPr marL="342900" indent="-342900">
              <a:buChar char="●"/>
            </a:pPr>
            <a:r>
              <a:rPr lang="en-US" sz="1700" b="0" i="0" dirty="0">
                <a:solidFill>
                  <a:srgbClr val="222222"/>
                </a:solidFill>
                <a:latin typeface="Century Gothic"/>
              </a:rPr>
              <a:t>Real-time current sensing</a:t>
            </a:r>
          </a:p>
          <a:p>
            <a:pPr marL="342900" indent="-342900">
              <a:buChar char="●"/>
            </a:pPr>
            <a:r>
              <a:rPr lang="en-US" sz="1700" b="0" i="0" dirty="0">
                <a:solidFill>
                  <a:srgbClr val="222222"/>
                </a:solidFill>
                <a:latin typeface="Century Gothic"/>
              </a:rPr>
              <a:t>Power calculation (P=VI)</a:t>
            </a:r>
          </a:p>
          <a:p>
            <a:pPr marL="342900" indent="-342900">
              <a:buChar char="●"/>
            </a:pPr>
            <a:r>
              <a:rPr lang="en-US" sz="1700" b="0" i="0" dirty="0">
                <a:solidFill>
                  <a:srgbClr val="222222"/>
                </a:solidFill>
                <a:latin typeface="Century Gothic"/>
              </a:rPr>
              <a:t>Energy accumulation (Wh)</a:t>
            </a:r>
          </a:p>
          <a:p>
            <a:pPr marL="342900" indent="-342900">
              <a:buChar char="●"/>
            </a:pPr>
            <a:r>
              <a:rPr lang="en-US" sz="1700" b="0" i="0" dirty="0">
                <a:solidFill>
                  <a:srgbClr val="222222"/>
                </a:solidFill>
                <a:latin typeface="Century Gothic"/>
              </a:rPr>
              <a:t>Automatic relay trip on overload</a:t>
            </a:r>
          </a:p>
          <a:p>
            <a:r>
              <a:rPr lang="en-US" sz="800" dirty="0">
                <a:latin typeface="Century Gothic"/>
              </a:rPr>
              <a:t>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0" name="Backgroun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60" y="0"/>
            <a:ext cx="12192000" cy="6858000"/>
          </a:xfrm>
          <a:prstGeom prst="rect">
            <a:avLst/>
          </a:prstGeom>
        </p:spPr>
      </p:pic>
      <p:sp>
        <p:nvSpPr>
          <p:cNvPr id="101" name="TitleBar"/>
          <p:cNvSpPr txBox="1"/>
          <p:nvPr/>
        </p:nvSpPr>
        <p:spPr>
          <a:xfrm>
            <a:off x="914400" y="16042"/>
            <a:ext cx="10363200" cy="754053"/>
          </a:xfrm>
          <a:prstGeom prst="rect">
            <a:avLst/>
          </a:prstGeom>
          <a:solidFill>
            <a:srgbClr val="006400"/>
          </a:solidFill>
        </p:spPr>
        <p:txBody>
          <a:bodyPr wrap="square" lIns="91440" tIns="45720" rIns="91440" bIns="0" rtlCol="0">
            <a:spAutoFit/>
          </a:bodyPr>
          <a:lstStyle/>
          <a:p>
            <a:pPr algn="ctr"/>
            <a:r>
              <a:rPr lang="en-US" sz="2800" b="1" dirty="0">
                <a:solidFill>
                  <a:srgbClr val="FFFFFF"/>
                </a:solidFill>
                <a:latin typeface="Century Gothic"/>
              </a:rPr>
              <a:t>System Overview- </a:t>
            </a:r>
            <a:r>
              <a:rPr lang="en-US" sz="2800" b="1" dirty="0" err="1">
                <a:solidFill>
                  <a:srgbClr val="FFFFFF"/>
                </a:solidFill>
                <a:latin typeface="Century Gothic"/>
              </a:rPr>
              <a:t>Ardurino</a:t>
            </a:r>
            <a:r>
              <a:rPr lang="en-US" sz="2800" b="1" dirty="0">
                <a:solidFill>
                  <a:srgbClr val="FFFFFF"/>
                </a:solidFill>
                <a:latin typeface="Century Gothic"/>
              </a:rPr>
              <a:t> overview</a:t>
            </a:r>
            <a:br>
              <a:rPr lang="en-US" sz="1800" dirty="0">
                <a:latin typeface="Century Gothic"/>
              </a:rPr>
            </a:br>
            <a:endParaRPr lang="en-US" sz="1800" b="0" dirty="0">
              <a:solidFill>
                <a:srgbClr val="FFFFFF"/>
              </a:solidFill>
              <a:latin typeface="Century Gothic"/>
            </a:endParaRPr>
          </a:p>
        </p:txBody>
      </p:sp>
      <p:sp>
        <p:nvSpPr>
          <p:cNvPr id="102" name="ContentBox"/>
          <p:cNvSpPr txBox="1"/>
          <p:nvPr/>
        </p:nvSpPr>
        <p:spPr>
          <a:xfrm>
            <a:off x="914400" y="838200"/>
            <a:ext cx="5090160" cy="48320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182880" tIns="91440" rIns="182880" bIns="91440" rtlCol="0">
            <a:normAutofit/>
          </a:bodyPr>
          <a:lstStyle/>
          <a:p>
            <a:pPr algn="l"/>
            <a:r>
              <a:rPr lang="en-US" sz="2000" b="1" i="0" dirty="0">
                <a:solidFill>
                  <a:srgbClr val="006400"/>
                </a:solidFill>
                <a:latin typeface="Century Gothic"/>
              </a:rPr>
              <a:t>ATmega328P MCU</a:t>
            </a:r>
          </a:p>
          <a:p>
            <a:pPr algn="l"/>
            <a:r>
              <a:rPr lang="en-US" sz="1700" b="0" i="0" dirty="0">
                <a:solidFill>
                  <a:srgbClr val="222222"/>
                </a:solidFill>
                <a:latin typeface="Century Gothic"/>
              </a:rPr>
              <a:t>8-bit AVR, 16MHz, 32KB flash, 2KB SRAM. Executes all 9 firmware functions: sensor reading, power calculation, relay control, LCD management.</a:t>
            </a:r>
          </a:p>
          <a:p>
            <a:r>
              <a:rPr lang="en-US" sz="800" dirty="0">
                <a:latin typeface="Century Gothic"/>
              </a:rPr>
              <a:t> </a:t>
            </a:r>
          </a:p>
          <a:p>
            <a:pPr algn="l"/>
            <a:r>
              <a:rPr lang="en-US" sz="2000" b="1" i="0" dirty="0">
                <a:solidFill>
                  <a:srgbClr val="006400"/>
                </a:solidFill>
                <a:latin typeface="Century Gothic"/>
              </a:rPr>
              <a:t>Analog Inputs A0–A2</a:t>
            </a:r>
          </a:p>
          <a:p>
            <a:pPr algn="l"/>
            <a:r>
              <a:rPr lang="en-US" sz="1700" b="0" i="0" dirty="0">
                <a:solidFill>
                  <a:srgbClr val="222222"/>
                </a:solidFill>
                <a:latin typeface="Century Gothic"/>
              </a:rPr>
              <a:t>Three ADC channels reading potentiometers (0–5V → 0–3A). 10-bit resolution = 1024 steps for precise current mapping.</a:t>
            </a:r>
          </a:p>
          <a:p>
            <a:r>
              <a:rPr lang="en-US" sz="800" dirty="0">
                <a:latin typeface="Century Gothic"/>
              </a:rPr>
              <a:t> </a:t>
            </a:r>
          </a:p>
          <a:p>
            <a:pPr algn="l"/>
            <a:r>
              <a:rPr lang="en-US" sz="2000" b="1" i="0" dirty="0">
                <a:solidFill>
                  <a:srgbClr val="006400"/>
                </a:solidFill>
                <a:latin typeface="Century Gothic"/>
              </a:rPr>
              <a:t>Digital Outputs D2–D13</a:t>
            </a:r>
          </a:p>
          <a:p>
            <a:pPr algn="l"/>
            <a:r>
              <a:rPr lang="en-US" sz="1700" b="0" i="0" dirty="0">
                <a:solidFill>
                  <a:srgbClr val="222222"/>
                </a:solidFill>
                <a:latin typeface="Century Gothic"/>
              </a:rPr>
              <a:t>D2–D4: relay control. D5–D6: green LEDs. D7–D12: LCD 4-bit interface. D13: red alert LED. A3: buzzer output.</a:t>
            </a:r>
          </a:p>
        </p:txBody>
      </p:sp>
      <p:sp>
        <p:nvSpPr>
          <p:cNvPr id="2" name="ContentBox"/>
          <p:cNvSpPr txBox="1"/>
          <p:nvPr/>
        </p:nvSpPr>
        <p:spPr>
          <a:xfrm>
            <a:off x="6187440" y="838200"/>
            <a:ext cx="5090160" cy="48320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182880" tIns="91440" rIns="182880" bIns="91440" rtlCol="0">
            <a:normAutofit/>
          </a:bodyPr>
          <a:lstStyle/>
          <a:p>
            <a:pPr algn="l"/>
            <a:r>
              <a:rPr lang="en-US" sz="2000" b="1" i="0" dirty="0">
                <a:solidFill>
                  <a:srgbClr val="006400"/>
                </a:solidFill>
                <a:latin typeface="Century Gothic"/>
              </a:rPr>
              <a:t>Key Specifications</a:t>
            </a:r>
          </a:p>
          <a:p>
            <a:pPr algn="l"/>
            <a:r>
              <a:rPr lang="en-US" sz="1700" b="1" i="0" dirty="0">
                <a:solidFill>
                  <a:srgbClr val="006400"/>
                </a:solidFill>
                <a:latin typeface="Century Gothic"/>
              </a:rPr>
              <a:t>MCU: </a:t>
            </a:r>
            <a:r>
              <a:rPr lang="en-US" sz="1700" b="0" i="0" dirty="0">
                <a:solidFill>
                  <a:srgbClr val="222222"/>
                </a:solidFill>
                <a:latin typeface="Century Gothic"/>
              </a:rPr>
              <a:t>ATmega328P</a:t>
            </a:r>
          </a:p>
          <a:p>
            <a:pPr algn="l"/>
            <a:r>
              <a:rPr lang="en-US" sz="1700" b="1" i="0" dirty="0">
                <a:solidFill>
                  <a:srgbClr val="006400"/>
                </a:solidFill>
                <a:latin typeface="Century Gothic"/>
              </a:rPr>
              <a:t>Clock: </a:t>
            </a:r>
            <a:r>
              <a:rPr lang="en-US" sz="1700" b="0" i="0" dirty="0">
                <a:solidFill>
                  <a:srgbClr val="222222"/>
                </a:solidFill>
                <a:latin typeface="Century Gothic"/>
              </a:rPr>
              <a:t>16 MHz</a:t>
            </a:r>
          </a:p>
          <a:p>
            <a:pPr algn="l"/>
            <a:r>
              <a:rPr lang="en-US" sz="1700" b="1" i="0" dirty="0">
                <a:solidFill>
                  <a:srgbClr val="006400"/>
                </a:solidFill>
                <a:latin typeface="Century Gothic"/>
              </a:rPr>
              <a:t>Flash: </a:t>
            </a:r>
            <a:r>
              <a:rPr lang="en-US" sz="1700" b="0" i="0" dirty="0">
                <a:solidFill>
                  <a:srgbClr val="222222"/>
                </a:solidFill>
                <a:latin typeface="Century Gothic"/>
              </a:rPr>
              <a:t>32KB</a:t>
            </a:r>
          </a:p>
          <a:p>
            <a:pPr algn="l"/>
            <a:r>
              <a:rPr lang="en-US" sz="1700" b="1" i="0" dirty="0">
                <a:solidFill>
                  <a:srgbClr val="006400"/>
                </a:solidFill>
                <a:latin typeface="Century Gothic"/>
              </a:rPr>
              <a:t>SRAM: </a:t>
            </a:r>
            <a:r>
              <a:rPr lang="en-US" sz="1700" b="0" i="0" dirty="0">
                <a:solidFill>
                  <a:srgbClr val="222222"/>
                </a:solidFill>
                <a:latin typeface="Century Gothic"/>
              </a:rPr>
              <a:t>2KB</a:t>
            </a:r>
          </a:p>
          <a:p>
            <a:pPr algn="l"/>
            <a:r>
              <a:rPr lang="en-US" sz="1700" b="1" i="0" dirty="0">
                <a:solidFill>
                  <a:srgbClr val="006400"/>
                </a:solidFill>
                <a:latin typeface="Century Gothic"/>
              </a:rPr>
              <a:t>EEPROM: </a:t>
            </a:r>
            <a:r>
              <a:rPr lang="en-US" sz="1700" b="0" i="0" dirty="0">
                <a:solidFill>
                  <a:srgbClr val="222222"/>
                </a:solidFill>
                <a:latin typeface="Century Gothic"/>
              </a:rPr>
              <a:t>1KB</a:t>
            </a:r>
          </a:p>
          <a:p>
            <a:pPr algn="l"/>
            <a:r>
              <a:rPr lang="en-US" sz="1700" b="1" i="0" dirty="0">
                <a:solidFill>
                  <a:srgbClr val="006400"/>
                </a:solidFill>
                <a:latin typeface="Century Gothic"/>
              </a:rPr>
              <a:t>Digital I/O: </a:t>
            </a:r>
            <a:r>
              <a:rPr lang="en-US" sz="1700" b="0" i="0" dirty="0">
                <a:solidFill>
                  <a:srgbClr val="222222"/>
                </a:solidFill>
                <a:latin typeface="Century Gothic"/>
              </a:rPr>
              <a:t>14 pins (6 PWM)</a:t>
            </a:r>
          </a:p>
          <a:p>
            <a:pPr algn="l"/>
            <a:r>
              <a:rPr lang="en-US" sz="1700" b="1" i="0" dirty="0">
                <a:solidFill>
                  <a:srgbClr val="006400"/>
                </a:solidFill>
                <a:latin typeface="Century Gothic"/>
              </a:rPr>
              <a:t>Analog Inputs: </a:t>
            </a:r>
            <a:r>
              <a:rPr lang="en-US" sz="1700" b="0" i="0" dirty="0">
                <a:solidFill>
                  <a:srgbClr val="222222"/>
                </a:solidFill>
                <a:latin typeface="Century Gothic"/>
              </a:rPr>
              <a:t>6 pins</a:t>
            </a:r>
          </a:p>
          <a:p>
            <a:pPr algn="l"/>
            <a:r>
              <a:rPr lang="en-US" sz="1700" b="1" i="0" dirty="0">
                <a:solidFill>
                  <a:srgbClr val="006400"/>
                </a:solidFill>
                <a:latin typeface="Century Gothic"/>
              </a:rPr>
              <a:t>Operating Voltage: </a:t>
            </a:r>
            <a:r>
              <a:rPr lang="en-US" sz="1700" b="0" i="0" dirty="0">
                <a:solidFill>
                  <a:srgbClr val="222222"/>
                </a:solidFill>
                <a:latin typeface="Century Gothic"/>
              </a:rPr>
              <a:t>5V</a:t>
            </a:r>
          </a:p>
          <a:p>
            <a:pPr algn="l"/>
            <a:r>
              <a:rPr lang="en-US" sz="1700" b="1" i="0" dirty="0">
                <a:solidFill>
                  <a:srgbClr val="006400"/>
                </a:solidFill>
                <a:latin typeface="Century Gothic"/>
              </a:rPr>
              <a:t>Input Voltage: </a:t>
            </a:r>
            <a:r>
              <a:rPr lang="en-US" sz="1700" b="0" i="0" dirty="0">
                <a:solidFill>
                  <a:srgbClr val="222222"/>
                </a:solidFill>
                <a:latin typeface="Century Gothic"/>
              </a:rPr>
              <a:t>7–12V</a:t>
            </a:r>
          </a:p>
          <a:p>
            <a:r>
              <a:rPr lang="en-US" sz="800" dirty="0">
                <a:latin typeface="Century Gothic"/>
              </a:rPr>
              <a:t> </a:t>
            </a:r>
          </a:p>
          <a:p>
            <a:pPr algn="l"/>
            <a:r>
              <a:rPr lang="en-US" sz="1800" b="1" i="0" dirty="0">
                <a:solidFill>
                  <a:srgbClr val="006400"/>
                </a:solidFill>
                <a:latin typeface="Century Gothic"/>
              </a:rPr>
              <a:t>USB + Power Jack</a:t>
            </a:r>
          </a:p>
          <a:p>
            <a:pPr algn="l"/>
            <a:r>
              <a:rPr lang="en-US" sz="1600" b="0" i="0" dirty="0">
                <a:solidFill>
                  <a:srgbClr val="222222"/>
                </a:solidFill>
                <a:latin typeface="Century Gothic"/>
              </a:rPr>
              <a:t>USB for code upload &amp; Serial Monitor. DC jack (7–12V) for standalone. Onboard 7805 voltage regulator.</a:t>
            </a:r>
          </a:p>
        </p:txBody>
      </p:sp>
      <p:pic>
        <p:nvPicPr>
          <p:cNvPr id="304" name="img30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000" y="838200"/>
            <a:ext cx="5277600" cy="55618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0" name="Backgroun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96000" y="0"/>
            <a:ext cx="12192000" cy="6858000"/>
          </a:xfrm>
          <a:prstGeom prst="rect">
            <a:avLst/>
          </a:prstGeom>
        </p:spPr>
      </p:pic>
      <p:sp>
        <p:nvSpPr>
          <p:cNvPr id="101" name="TitleBar"/>
          <p:cNvSpPr txBox="1"/>
          <p:nvPr/>
        </p:nvSpPr>
        <p:spPr>
          <a:xfrm>
            <a:off x="914400" y="16042"/>
            <a:ext cx="10363200" cy="754053"/>
          </a:xfrm>
          <a:prstGeom prst="rect">
            <a:avLst/>
          </a:prstGeom>
          <a:solidFill>
            <a:srgbClr val="006400"/>
          </a:solidFill>
        </p:spPr>
        <p:txBody>
          <a:bodyPr wrap="square" lIns="91440" tIns="45720" rIns="91440" bIns="0" rtlCol="0">
            <a:spAutoFit/>
          </a:bodyPr>
          <a:lstStyle/>
          <a:p>
            <a:pPr algn="ctr"/>
            <a:r>
              <a:rPr lang="en-US" sz="2800" b="1" dirty="0">
                <a:solidFill>
                  <a:srgbClr val="FFFFFF"/>
                </a:solidFill>
                <a:latin typeface="Century Gothic"/>
              </a:rPr>
              <a:t>System Overview- Hardware Components</a:t>
            </a:r>
            <a:br>
              <a:rPr lang="en-US" sz="1800" dirty="0">
                <a:latin typeface="Century Gothic"/>
              </a:rPr>
            </a:br>
            <a:endParaRPr lang="en-US" sz="1800" b="0" dirty="0">
              <a:solidFill>
                <a:srgbClr val="FFFFFF"/>
              </a:solidFill>
              <a:latin typeface="Century Gothic"/>
            </a:endParaRPr>
          </a:p>
        </p:txBody>
      </p:sp>
      <p:sp>
        <p:nvSpPr>
          <p:cNvPr id="102" name="ContentBox"/>
          <p:cNvSpPr txBox="1"/>
          <p:nvPr/>
        </p:nvSpPr>
        <p:spPr>
          <a:xfrm>
            <a:off x="914400" y="838200"/>
            <a:ext cx="4800000" cy="5819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182880" tIns="91440" rIns="182880" bIns="91440" rtlCol="0">
            <a:normAutofit/>
          </a:bodyPr>
          <a:lstStyle/>
          <a:p>
            <a:pPr algn="l"/>
            <a:r>
              <a:rPr lang="en-US" sz="2000" b="1" dirty="0">
                <a:solidFill>
                  <a:srgbClr val="006400"/>
                </a:solidFill>
                <a:latin typeface="Century Gothic"/>
              </a:rPr>
              <a:t>ACS712-05B Current Sensor</a:t>
            </a:r>
          </a:p>
          <a:p>
            <a:pPr marL="342900" indent="-342900">
              <a:buChar char="●"/>
            </a:pPr>
            <a:r>
              <a:rPr lang="en-US" sz="1700" b="0" dirty="0">
                <a:solidFill>
                  <a:srgbClr val="222222"/>
                </a:solidFill>
                <a:latin typeface="Century Gothic"/>
              </a:rPr>
              <a:t>Hall-effect current sensing</a:t>
            </a:r>
          </a:p>
          <a:p>
            <a:pPr marL="342900" indent="-342900">
              <a:buChar char="●"/>
            </a:pPr>
            <a:r>
              <a:rPr lang="en-US" sz="1700" b="0" dirty="0">
                <a:solidFill>
                  <a:srgbClr val="222222"/>
                </a:solidFill>
                <a:latin typeface="Century Gothic"/>
              </a:rPr>
              <a:t>185mV per ampere sensitivity</a:t>
            </a:r>
          </a:p>
          <a:p>
            <a:pPr marL="342900" indent="-342900">
              <a:buChar char="●"/>
            </a:pPr>
            <a:r>
              <a:rPr lang="en-US" sz="1700" b="0" dirty="0">
                <a:solidFill>
                  <a:srgbClr val="222222"/>
                </a:solidFill>
                <a:latin typeface="Century Gothic"/>
              </a:rPr>
              <a:t>Simulated by 10kΩ potentiometer</a:t>
            </a:r>
          </a:p>
          <a:p>
            <a:pPr marL="342900" indent="-342900">
              <a:buChar char="●"/>
            </a:pPr>
            <a:r>
              <a:rPr lang="en-US" sz="1700" b="0" dirty="0">
                <a:solidFill>
                  <a:srgbClr val="222222"/>
                </a:solidFill>
                <a:latin typeface="Century Gothic"/>
              </a:rPr>
              <a:t>3× instances on A0, A1, A2</a:t>
            </a:r>
          </a:p>
          <a:p>
            <a:r>
              <a:rPr lang="en-US" sz="500" dirty="0">
                <a:latin typeface="Century Gothic"/>
              </a:rPr>
              <a:t> </a:t>
            </a:r>
          </a:p>
          <a:p>
            <a:pPr algn="l"/>
            <a:r>
              <a:rPr lang="en-US" sz="2000" b="1" dirty="0">
                <a:solidFill>
                  <a:srgbClr val="006400"/>
                </a:solidFill>
                <a:latin typeface="Century Gothic"/>
              </a:rPr>
              <a:t>5V 3-Channel Relay Module</a:t>
            </a:r>
          </a:p>
          <a:p>
            <a:pPr marL="342900" indent="-342900">
              <a:buChar char="●"/>
            </a:pPr>
            <a:r>
              <a:rPr lang="en-US" sz="1700" b="0" dirty="0">
                <a:solidFill>
                  <a:srgbClr val="222222"/>
                </a:solidFill>
                <a:latin typeface="Century Gothic"/>
              </a:rPr>
              <a:t>SPDT contacts: COM / NO / NC</a:t>
            </a:r>
          </a:p>
          <a:p>
            <a:pPr marL="342900" indent="-342900">
              <a:buChar char="●"/>
            </a:pPr>
            <a:r>
              <a:rPr lang="en-US" sz="1700" b="0" dirty="0">
                <a:solidFill>
                  <a:srgbClr val="222222"/>
                </a:solidFill>
                <a:latin typeface="Century Gothic"/>
              </a:rPr>
              <a:t>IN1→D2, IN2→D3, IN3→D4</a:t>
            </a:r>
          </a:p>
          <a:p>
            <a:pPr marL="342900" indent="-342900">
              <a:buChar char="●"/>
            </a:pPr>
            <a:r>
              <a:rPr lang="en-US" sz="1700" b="0" dirty="0">
                <a:solidFill>
                  <a:srgbClr val="222222"/>
                </a:solidFill>
                <a:latin typeface="Century Gothic"/>
              </a:rPr>
              <a:t>HIGH = ON (device powered)</a:t>
            </a:r>
          </a:p>
          <a:p>
            <a:pPr marL="342900" indent="-342900">
              <a:buChar char="●"/>
            </a:pPr>
            <a:r>
              <a:rPr lang="en-US" sz="1700" b="0" dirty="0">
                <a:solidFill>
                  <a:srgbClr val="222222"/>
                </a:solidFill>
                <a:latin typeface="Century Gothic"/>
              </a:rPr>
              <a:t>LOW = TRIPPED (auto-disconnects)</a:t>
            </a:r>
          </a:p>
          <a:p>
            <a:r>
              <a:rPr lang="en-US" sz="500" dirty="0">
                <a:latin typeface="Century Gothic"/>
              </a:rPr>
              <a:t> </a:t>
            </a:r>
          </a:p>
          <a:p>
            <a:pPr algn="l"/>
            <a:r>
              <a:rPr lang="en-US" sz="2000" b="1" dirty="0">
                <a:solidFill>
                  <a:srgbClr val="006400"/>
                </a:solidFill>
                <a:latin typeface="Century Gothic"/>
              </a:rPr>
              <a:t>16×2 LCD (HD44780)</a:t>
            </a:r>
          </a:p>
          <a:p>
            <a:pPr marL="342900" indent="-342900">
              <a:buChar char="●"/>
            </a:pPr>
            <a:r>
              <a:rPr lang="en-US" sz="1700" b="0" dirty="0">
                <a:solidFill>
                  <a:srgbClr val="222222"/>
                </a:solidFill>
                <a:latin typeface="Century Gothic"/>
              </a:rPr>
              <a:t>4-bit interface: D7–D12</a:t>
            </a:r>
          </a:p>
          <a:p>
            <a:pPr marL="342900" indent="-342900">
              <a:buChar char="●"/>
            </a:pPr>
            <a:r>
              <a:rPr lang="en-US" sz="1700" b="0" dirty="0">
                <a:solidFill>
                  <a:srgbClr val="222222"/>
                </a:solidFill>
                <a:latin typeface="Century Gothic"/>
              </a:rPr>
              <a:t>4 rotating display pages</a:t>
            </a:r>
          </a:p>
          <a:p>
            <a:pPr marL="342900" indent="-342900">
              <a:buChar char="●"/>
            </a:pPr>
            <a:r>
              <a:rPr lang="en-US" sz="1700" b="0" dirty="0">
                <a:solidFill>
                  <a:srgbClr val="222222"/>
                </a:solidFill>
                <a:latin typeface="Century Gothic"/>
              </a:rPr>
              <a:t>Contrast via 10kΩ pot</a:t>
            </a:r>
          </a:p>
          <a:p>
            <a:r>
              <a:rPr lang="en-US" sz="500" dirty="0">
                <a:latin typeface="Century Gothic"/>
              </a:rPr>
              <a:t> </a:t>
            </a:r>
          </a:p>
          <a:p>
            <a:pPr algn="l"/>
            <a:r>
              <a:rPr lang="en-US" sz="2000" b="1" dirty="0">
                <a:solidFill>
                  <a:srgbClr val="006400"/>
                </a:solidFill>
                <a:latin typeface="Century Gothic"/>
              </a:rPr>
              <a:t>Full Assembled Circuit</a:t>
            </a:r>
          </a:p>
          <a:p>
            <a:pPr marL="342900" indent="-342900">
              <a:buChar char="●"/>
            </a:pPr>
            <a:r>
              <a:rPr lang="en-US" sz="1700" b="0" dirty="0">
                <a:solidFill>
                  <a:srgbClr val="222222"/>
                </a:solidFill>
                <a:latin typeface="Century Gothic"/>
              </a:rPr>
              <a:t>1× Arduino Uno</a:t>
            </a:r>
          </a:p>
          <a:p>
            <a:pPr marL="342900" indent="-342900">
              <a:buChar char="●"/>
            </a:pPr>
            <a:r>
              <a:rPr lang="en-US" sz="1700" b="0" dirty="0">
                <a:solidFill>
                  <a:srgbClr val="222222"/>
                </a:solidFill>
                <a:latin typeface="Century Gothic"/>
              </a:rPr>
              <a:t>3× Relays + 6× LEDs + Buzzer</a:t>
            </a:r>
          </a:p>
          <a:p>
            <a:pPr marL="342900" indent="-342900">
              <a:buChar char="●"/>
            </a:pPr>
            <a:r>
              <a:rPr lang="en-US" sz="1700" b="0" dirty="0">
                <a:solidFill>
                  <a:srgbClr val="222222"/>
                </a:solidFill>
                <a:latin typeface="Century Gothic"/>
              </a:rPr>
              <a:t>3× Potentiometers (10kΩ)</a:t>
            </a:r>
          </a:p>
        </p:txBody>
      </p:sp>
      <p:pic>
        <p:nvPicPr>
          <p:cNvPr id="351" name="img35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00000" y="838200"/>
            <a:ext cx="2996000" cy="2859900"/>
          </a:xfrm>
          <a:prstGeom prst="rect">
            <a:avLst/>
          </a:prstGeom>
        </p:spPr>
      </p:pic>
      <p:pic>
        <p:nvPicPr>
          <p:cNvPr id="352" name="img352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84696" y="838200"/>
            <a:ext cx="2104208" cy="2859900"/>
          </a:xfrm>
          <a:prstGeom prst="rect">
            <a:avLst/>
          </a:prstGeom>
        </p:spPr>
      </p:pic>
      <p:pic>
        <p:nvPicPr>
          <p:cNvPr id="353" name="img353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00000" y="4178881"/>
            <a:ext cx="2996000" cy="1840337"/>
          </a:xfrm>
          <a:prstGeom prst="rect">
            <a:avLst/>
          </a:prstGeom>
        </p:spPr>
      </p:pic>
      <p:pic>
        <p:nvPicPr>
          <p:cNvPr id="354" name="img354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96000" y="4179891"/>
            <a:ext cx="2281600" cy="183831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0" name="Backgroun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1" name="TitleBar"/>
          <p:cNvSpPr txBox="1"/>
          <p:nvPr/>
        </p:nvSpPr>
        <p:spPr>
          <a:xfrm>
            <a:off x="914400" y="16042"/>
            <a:ext cx="10363200" cy="754053"/>
          </a:xfrm>
          <a:prstGeom prst="rect">
            <a:avLst/>
          </a:prstGeom>
          <a:solidFill>
            <a:srgbClr val="006400"/>
          </a:solidFill>
        </p:spPr>
        <p:txBody>
          <a:bodyPr wrap="square" lIns="91440" tIns="45720" rIns="91440" bIns="0" rtlCol="0">
            <a:spAutoFit/>
          </a:bodyPr>
          <a:lstStyle/>
          <a:p>
            <a:pPr algn="ctr"/>
            <a:r>
              <a:rPr lang="en-US" sz="2800" b="1" dirty="0">
                <a:solidFill>
                  <a:srgbClr val="FFFFFF"/>
                </a:solidFill>
                <a:latin typeface="Century Gothic"/>
              </a:rPr>
              <a:t>System architecture</a:t>
            </a:r>
            <a:br>
              <a:rPr lang="en-US" sz="1800" dirty="0">
                <a:latin typeface="Century Gothic"/>
              </a:rPr>
            </a:br>
            <a:endParaRPr lang="en-US" sz="1800" b="0" dirty="0">
              <a:solidFill>
                <a:srgbClr val="FFFFFF"/>
              </a:solidFill>
              <a:latin typeface="Century Gothic"/>
            </a:endParaRPr>
          </a:p>
        </p:txBody>
      </p:sp>
      <p:sp>
        <p:nvSpPr>
          <p:cNvPr id="102" name="ContentBox"/>
          <p:cNvSpPr txBox="1"/>
          <p:nvPr/>
        </p:nvSpPr>
        <p:spPr>
          <a:xfrm>
            <a:off x="914400" y="1864360"/>
            <a:ext cx="5090160" cy="48320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182880" tIns="91440" rIns="182880" bIns="91440" rtlCol="0">
            <a:normAutofit/>
          </a:bodyPr>
          <a:lstStyle/>
          <a:p>
            <a:pPr algn="l"/>
            <a:r>
              <a:rPr lang="en-US" sz="2000" b="1" i="0" dirty="0">
                <a:solidFill>
                  <a:srgbClr val="006400"/>
                </a:solidFill>
                <a:latin typeface="Century Gothic"/>
              </a:rPr>
              <a:t>INPUT STAGE</a:t>
            </a:r>
          </a:p>
          <a:p>
            <a:pPr algn="l"/>
            <a:r>
              <a:rPr lang="en-US" sz="1700" b="1" i="0" dirty="0">
                <a:solidFill>
                  <a:srgbClr val="006400"/>
                </a:solidFill>
                <a:latin typeface="Century Gothic"/>
              </a:rPr>
              <a:t>POT1 → A0: </a:t>
            </a:r>
            <a:r>
              <a:rPr lang="en-US" sz="1700" b="0" i="0" dirty="0">
                <a:solidFill>
                  <a:srgbClr val="222222"/>
                </a:solidFill>
                <a:latin typeface="Century Gothic"/>
              </a:rPr>
              <a:t>10kΩ | 0–3A | Device 1 sensor</a:t>
            </a:r>
          </a:p>
          <a:p>
            <a:r>
              <a:rPr lang="en-US" sz="200" dirty="0">
                <a:latin typeface="Century Gothic"/>
              </a:rPr>
              <a:t> </a:t>
            </a:r>
          </a:p>
          <a:p>
            <a:pPr algn="l"/>
            <a:r>
              <a:rPr lang="en-US" sz="1700" b="1" i="0" dirty="0">
                <a:solidFill>
                  <a:srgbClr val="006400"/>
                </a:solidFill>
                <a:latin typeface="Century Gothic"/>
              </a:rPr>
              <a:t>POT2 → A1: </a:t>
            </a:r>
            <a:r>
              <a:rPr lang="en-US" sz="1700" b="0" i="0" dirty="0">
                <a:solidFill>
                  <a:srgbClr val="222222"/>
                </a:solidFill>
                <a:latin typeface="Century Gothic"/>
              </a:rPr>
              <a:t>10kΩ | 0–3A | Device 2 sensor</a:t>
            </a:r>
          </a:p>
          <a:p>
            <a:r>
              <a:rPr lang="en-US" sz="200" dirty="0">
                <a:latin typeface="Century Gothic"/>
              </a:rPr>
              <a:t> </a:t>
            </a:r>
          </a:p>
          <a:p>
            <a:pPr algn="l"/>
            <a:r>
              <a:rPr lang="en-US" sz="1700" b="1" i="0" dirty="0">
                <a:solidFill>
                  <a:srgbClr val="006400"/>
                </a:solidFill>
                <a:latin typeface="Century Gothic"/>
              </a:rPr>
              <a:t>POT3 → A2: </a:t>
            </a:r>
            <a:r>
              <a:rPr lang="en-US" sz="1700" b="0" i="0" dirty="0">
                <a:solidFill>
                  <a:srgbClr val="222222"/>
                </a:solidFill>
                <a:latin typeface="Century Gothic"/>
              </a:rPr>
              <a:t>10kΩ | 0–3A | Device 3 sensor</a:t>
            </a:r>
          </a:p>
          <a:p>
            <a:r>
              <a:rPr lang="en-US" sz="600" dirty="0">
                <a:latin typeface="Century Gothic"/>
              </a:rPr>
              <a:t> </a:t>
            </a:r>
          </a:p>
          <a:p>
            <a:pPr algn="l"/>
            <a:r>
              <a:rPr lang="en-US" sz="2000" b="1" i="0" dirty="0">
                <a:solidFill>
                  <a:srgbClr val="006400"/>
                </a:solidFill>
                <a:latin typeface="Century Gothic"/>
              </a:rPr>
              <a:t>ARDUINO UNO FUNCTIONS</a:t>
            </a:r>
          </a:p>
          <a:p>
            <a:pPr marL="342900" indent="-342900">
              <a:buChar char="●"/>
            </a:pPr>
            <a:r>
              <a:rPr lang="en-US" sz="1700" b="0" i="0" dirty="0">
                <a:solidFill>
                  <a:srgbClr val="222222"/>
                </a:solidFill>
                <a:latin typeface="Century Gothic"/>
              </a:rPr>
              <a:t>readSensors() — ADC sampling</a:t>
            </a:r>
          </a:p>
          <a:p>
            <a:pPr marL="342900" indent="-342900">
              <a:buChar char="●"/>
            </a:pPr>
            <a:r>
              <a:rPr lang="en-US" sz="1700" b="0" i="0" dirty="0">
                <a:solidFill>
                  <a:srgbClr val="222222"/>
                </a:solidFill>
                <a:latin typeface="Century Gothic"/>
              </a:rPr>
              <a:t>calculatePower() — P = V × I</a:t>
            </a:r>
          </a:p>
          <a:p>
            <a:pPr marL="342900" indent="-342900">
              <a:buChar char="●"/>
            </a:pPr>
            <a:r>
              <a:rPr lang="en-US" sz="1700" b="0" i="0" dirty="0">
                <a:solidFill>
                  <a:srgbClr val="222222"/>
                </a:solidFill>
                <a:latin typeface="Century Gothic"/>
              </a:rPr>
              <a:t>checkOverload() — threshold detection</a:t>
            </a:r>
          </a:p>
          <a:p>
            <a:pPr marL="342900" indent="-342900">
              <a:buChar char="●"/>
            </a:pPr>
            <a:r>
              <a:rPr lang="en-US" sz="1700" b="0" i="0" dirty="0">
                <a:solidFill>
                  <a:srgbClr val="222222"/>
                </a:solidFill>
                <a:latin typeface="Century Gothic"/>
              </a:rPr>
              <a:t>accumulateEnergy() — E += P×Δt</a:t>
            </a:r>
          </a:p>
          <a:p>
            <a:pPr marL="342900" indent="-342900">
              <a:buChar char="●"/>
            </a:pPr>
            <a:r>
              <a:rPr lang="en-US" sz="1700" b="0" i="0" dirty="0">
                <a:solidFill>
                  <a:srgbClr val="222222"/>
                </a:solidFill>
                <a:latin typeface="Century Gothic"/>
              </a:rPr>
              <a:t>updateDisplay() — LCD management</a:t>
            </a:r>
          </a:p>
          <a:p>
            <a:pPr marL="342900" indent="-342900">
              <a:buChar char="●"/>
            </a:pPr>
            <a:r>
              <a:rPr lang="en-US" sz="1700" b="0" i="0" dirty="0">
                <a:solidFill>
                  <a:srgbClr val="222222"/>
                </a:solidFill>
                <a:latin typeface="Century Gothic"/>
              </a:rPr>
              <a:t>handleAlerts() — buzzer + LED</a:t>
            </a:r>
          </a:p>
          <a:p>
            <a:pPr marL="342900" indent="-342900">
              <a:buChar char="●"/>
            </a:pPr>
            <a:r>
              <a:rPr lang="en-US" sz="1700" b="0" i="0" dirty="0">
                <a:solidFill>
                  <a:srgbClr val="222222"/>
                </a:solidFill>
                <a:latin typeface="Century Gothic"/>
              </a:rPr>
              <a:t>serialReport() — debug logger</a:t>
            </a:r>
          </a:p>
        </p:txBody>
      </p:sp>
      <p:sp>
        <p:nvSpPr>
          <p:cNvPr id="2" name="ContentBox"/>
          <p:cNvSpPr txBox="1"/>
          <p:nvPr/>
        </p:nvSpPr>
        <p:spPr>
          <a:xfrm>
            <a:off x="6187440" y="2138680"/>
            <a:ext cx="5090160" cy="48320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182880" tIns="91440" rIns="182880" bIns="91440" rtlCol="0">
            <a:normAutofit/>
          </a:bodyPr>
          <a:lstStyle/>
          <a:p>
            <a:pPr algn="l"/>
            <a:r>
              <a:rPr lang="en-US" sz="2000" b="1" i="0" dirty="0">
                <a:solidFill>
                  <a:srgbClr val="006400"/>
                </a:solidFill>
                <a:latin typeface="Century Gothic"/>
              </a:rPr>
              <a:t>OUTPUT STAGE</a:t>
            </a:r>
          </a:p>
          <a:p>
            <a:pPr algn="l"/>
            <a:r>
              <a:rPr lang="en-US" sz="1700" b="1" i="0" dirty="0">
                <a:solidFill>
                  <a:srgbClr val="006400"/>
                </a:solidFill>
                <a:latin typeface="Century Gothic"/>
              </a:rPr>
              <a:t>3× Relay (D2–D4): </a:t>
            </a:r>
            <a:r>
              <a:rPr lang="en-US" sz="1700" b="0" i="0" dirty="0">
                <a:solidFill>
                  <a:srgbClr val="222222"/>
                </a:solidFill>
                <a:latin typeface="Century Gothic"/>
              </a:rPr>
              <a:t>Auto-trip on overload</a:t>
            </a:r>
          </a:p>
          <a:p>
            <a:r>
              <a:rPr lang="en-US" sz="200" dirty="0">
                <a:latin typeface="Century Gothic"/>
              </a:rPr>
              <a:t> </a:t>
            </a:r>
          </a:p>
          <a:p>
            <a:pPr algn="l"/>
            <a:r>
              <a:rPr lang="en-US" sz="1700" b="1" i="0" dirty="0">
                <a:solidFill>
                  <a:srgbClr val="006400"/>
                </a:solidFill>
                <a:latin typeface="Century Gothic"/>
              </a:rPr>
              <a:t>16×2 LCD (D7–D12): </a:t>
            </a:r>
            <a:r>
              <a:rPr lang="en-US" sz="1700" b="0" i="0" dirty="0">
                <a:solidFill>
                  <a:srgbClr val="222222"/>
                </a:solidFill>
                <a:latin typeface="Century Gothic"/>
              </a:rPr>
              <a:t>4 rotating info pages</a:t>
            </a:r>
          </a:p>
          <a:p>
            <a:r>
              <a:rPr lang="en-US" sz="200" dirty="0">
                <a:latin typeface="Century Gothic"/>
              </a:rPr>
              <a:t> </a:t>
            </a:r>
          </a:p>
          <a:p>
            <a:pPr algn="l"/>
            <a:r>
              <a:rPr lang="en-US" sz="1700" b="1" i="0" dirty="0">
                <a:solidFill>
                  <a:srgbClr val="006400"/>
                </a:solidFill>
                <a:latin typeface="Century Gothic"/>
              </a:rPr>
              <a:t>Green LEDs D5, D6: </a:t>
            </a:r>
            <a:r>
              <a:rPr lang="en-US" sz="1700" b="0" i="0" dirty="0">
                <a:solidFill>
                  <a:srgbClr val="222222"/>
                </a:solidFill>
                <a:latin typeface="Century Gothic"/>
              </a:rPr>
              <a:t>Normal operation indicators</a:t>
            </a:r>
          </a:p>
          <a:p>
            <a:r>
              <a:rPr lang="en-US" sz="200" dirty="0">
                <a:latin typeface="Century Gothic"/>
              </a:rPr>
              <a:t> </a:t>
            </a:r>
          </a:p>
          <a:p>
            <a:pPr algn="l"/>
            <a:r>
              <a:rPr lang="en-US" sz="1700" b="1" i="0" dirty="0">
                <a:solidFill>
                  <a:srgbClr val="006400"/>
                </a:solidFill>
                <a:latin typeface="Century Gothic"/>
              </a:rPr>
              <a:t>Red LED D13: </a:t>
            </a:r>
            <a:r>
              <a:rPr lang="en-US" sz="1700" b="0" i="0" dirty="0">
                <a:solidFill>
                  <a:srgbClr val="222222"/>
                </a:solidFill>
                <a:latin typeface="Century Gothic"/>
              </a:rPr>
              <a:t>Overload alert</a:t>
            </a:r>
          </a:p>
          <a:p>
            <a:r>
              <a:rPr lang="en-US" sz="200" dirty="0">
                <a:latin typeface="Century Gothic"/>
              </a:rPr>
              <a:t> </a:t>
            </a:r>
          </a:p>
          <a:p>
            <a:pPr algn="l"/>
            <a:r>
              <a:rPr lang="en-US" sz="1700" b="1" i="0" dirty="0">
                <a:solidFill>
                  <a:srgbClr val="006400"/>
                </a:solidFill>
                <a:latin typeface="Century Gothic"/>
              </a:rPr>
              <a:t>Buzzer (A3): </a:t>
            </a:r>
            <a:r>
              <a:rPr lang="en-US" sz="1700" b="0" i="0" dirty="0">
                <a:solidFill>
                  <a:srgbClr val="222222"/>
                </a:solidFill>
                <a:latin typeface="Century Gothic"/>
              </a:rPr>
              <a:t>Two-tone alarm on overload</a:t>
            </a:r>
          </a:p>
          <a:p>
            <a:r>
              <a:rPr lang="en-US" sz="400" dirty="0">
                <a:latin typeface="Century Gothic"/>
              </a:rPr>
              <a:t> </a:t>
            </a:r>
          </a:p>
          <a:p>
            <a:pPr algn="l"/>
            <a:r>
              <a:rPr lang="en-US" sz="1900" b="1" i="0" dirty="0">
                <a:solidFill>
                  <a:srgbClr val="8B0000"/>
                </a:solidFill>
                <a:latin typeface="Century Gothic"/>
              </a:rPr>
              <a:t>Thresholds</a:t>
            </a:r>
          </a:p>
          <a:p>
            <a:pPr algn="l"/>
            <a:r>
              <a:rPr lang="en-US" sz="1700" b="1" i="0" dirty="0">
                <a:solidFill>
                  <a:srgbClr val="006400"/>
                </a:solidFill>
                <a:latin typeface="Century Gothic"/>
              </a:rPr>
              <a:t>Per Device: </a:t>
            </a:r>
            <a:r>
              <a:rPr lang="en-US" sz="1700" b="0" i="0" dirty="0">
                <a:solidFill>
                  <a:srgbClr val="222222"/>
                </a:solidFill>
                <a:latin typeface="Century Gothic"/>
              </a:rPr>
              <a:t>&gt; 1.5A trips relay</a:t>
            </a:r>
          </a:p>
          <a:p>
            <a:pPr algn="l"/>
            <a:r>
              <a:rPr lang="en-US" sz="1700" b="1" i="0" dirty="0">
                <a:solidFill>
                  <a:srgbClr val="006400"/>
                </a:solidFill>
                <a:latin typeface="Century Gothic"/>
              </a:rPr>
              <a:t>System Total: </a:t>
            </a:r>
            <a:r>
              <a:rPr lang="en-US" sz="1700" b="0" i="0" dirty="0">
                <a:solidFill>
                  <a:srgbClr val="222222"/>
                </a:solidFill>
                <a:latin typeface="Century Gothic"/>
              </a:rPr>
              <a:t>&gt; 4.0A trips all relays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0" name="Backgroun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1" name="TitleBar"/>
          <p:cNvSpPr txBox="1"/>
          <p:nvPr/>
        </p:nvSpPr>
        <p:spPr>
          <a:xfrm>
            <a:off x="914400" y="16042"/>
            <a:ext cx="10363200" cy="754053"/>
          </a:xfrm>
          <a:prstGeom prst="rect">
            <a:avLst/>
          </a:prstGeom>
          <a:solidFill>
            <a:srgbClr val="006400"/>
          </a:solidFill>
        </p:spPr>
        <p:txBody>
          <a:bodyPr wrap="square" lIns="91440" tIns="45720" rIns="91440" bIns="0" rtlCol="0">
            <a:spAutoFit/>
          </a:bodyPr>
          <a:lstStyle/>
          <a:p>
            <a:pPr algn="ctr"/>
            <a:r>
              <a:rPr lang="en-US" sz="2800" b="1" dirty="0">
                <a:solidFill>
                  <a:srgbClr val="FFFFFF"/>
                </a:solidFill>
                <a:latin typeface="Century Gothic"/>
              </a:rPr>
              <a:t>TinkerCad Assembly</a:t>
            </a:r>
            <a:br>
              <a:rPr lang="en-US" sz="1800" dirty="0">
                <a:latin typeface="Century Gothic"/>
              </a:rPr>
            </a:br>
            <a:endParaRPr lang="en-US" sz="1800" b="0" dirty="0">
              <a:solidFill>
                <a:srgbClr val="FFFFFF"/>
              </a:solidFill>
              <a:latin typeface="Century Gothic"/>
            </a:endParaRPr>
          </a:p>
        </p:txBody>
      </p:sp>
      <p:sp>
        <p:nvSpPr>
          <p:cNvPr id="102" name="ContentBox"/>
          <p:cNvSpPr txBox="1"/>
          <p:nvPr/>
        </p:nvSpPr>
        <p:spPr>
          <a:xfrm>
            <a:off x="914400" y="996482"/>
            <a:ext cx="10363200" cy="5786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182880" tIns="91440" rIns="182880" bIns="91440" rtlCol="0">
            <a:normAutofit lnSpcReduction="10000"/>
          </a:bodyPr>
          <a:lstStyle/>
          <a:p>
            <a:pPr algn="l"/>
            <a:r>
              <a:rPr lang="en-US" sz="2000" b="1" i="0" dirty="0">
                <a:solidFill>
                  <a:srgbClr val="006400"/>
                </a:solidFill>
                <a:latin typeface="Century Gothic"/>
              </a:rPr>
              <a:t>Step 1 — Place Arduino Uno</a:t>
            </a:r>
          </a:p>
          <a:p>
            <a:pPr algn="l"/>
            <a:r>
              <a:rPr lang="en-US" sz="1700" b="0" i="0" dirty="0">
                <a:solidFill>
                  <a:srgbClr val="222222"/>
                </a:solidFill>
                <a:latin typeface="Century Gothic"/>
              </a:rPr>
              <a:t>Drag Arduino Uno onto breadboard area. Set simulation speed to 1.0×. This is the central controller for all 9 firmware functions.</a:t>
            </a:r>
          </a:p>
          <a:p>
            <a:r>
              <a:rPr lang="en-US" sz="800" dirty="0">
                <a:latin typeface="Century Gothic"/>
              </a:rPr>
              <a:t> </a:t>
            </a:r>
          </a:p>
          <a:p>
            <a:pPr algn="l"/>
            <a:r>
              <a:rPr lang="en-US" sz="2000" b="1" i="0" dirty="0">
                <a:solidFill>
                  <a:srgbClr val="006400"/>
                </a:solidFill>
                <a:latin typeface="Century Gothic"/>
              </a:rPr>
              <a:t>Step 2 — Add Potentiometers (Current Sensors)</a:t>
            </a:r>
          </a:p>
          <a:p>
            <a:pPr algn="l"/>
            <a:r>
              <a:rPr lang="en-US" sz="1700" b="0" i="0" dirty="0">
                <a:solidFill>
                  <a:srgbClr val="222222"/>
                </a:solidFill>
                <a:latin typeface="Century Gothic"/>
              </a:rPr>
              <a:t>Place 3× 10kΩ potentiometers. Connect: left pin → GND, right pin → 5V, wiper → A0/A1/A2 respectively. These simulate ACS712 current sensors.</a:t>
            </a:r>
          </a:p>
          <a:p>
            <a:r>
              <a:rPr lang="en-US" sz="800" dirty="0">
                <a:latin typeface="Century Gothic"/>
              </a:rPr>
              <a:t> </a:t>
            </a:r>
          </a:p>
          <a:p>
            <a:pPr algn="l"/>
            <a:r>
              <a:rPr lang="en-US" sz="2000" b="1" i="0" dirty="0">
                <a:solidFill>
                  <a:srgbClr val="006400"/>
                </a:solidFill>
                <a:latin typeface="Century Gothic"/>
              </a:rPr>
              <a:t>Step 3 — Connect Relay Module</a:t>
            </a:r>
          </a:p>
          <a:p>
            <a:pPr algn="l"/>
            <a:r>
              <a:rPr lang="en-US" sz="1700" b="0" i="0" dirty="0">
                <a:solidFill>
                  <a:srgbClr val="222222"/>
                </a:solidFill>
                <a:latin typeface="Century Gothic"/>
              </a:rPr>
              <a:t>Place 3× SPDT relays. Connect IN1→D2, IN2→D3, IN3→D4. Relay COM connected to load, NO to power. HIGH signal = relay ON (device powered).</a:t>
            </a:r>
          </a:p>
          <a:p>
            <a:r>
              <a:rPr lang="en-US" sz="800" dirty="0">
                <a:latin typeface="Century Gothic"/>
              </a:rPr>
              <a:t> </a:t>
            </a:r>
          </a:p>
          <a:p>
            <a:pPr algn="l"/>
            <a:r>
              <a:rPr lang="en-US" sz="2000" b="1" i="0" dirty="0">
                <a:solidFill>
                  <a:srgbClr val="006400"/>
                </a:solidFill>
                <a:latin typeface="Century Gothic"/>
              </a:rPr>
              <a:t>Step 4 — Wire LCD Display</a:t>
            </a:r>
          </a:p>
          <a:p>
            <a:pPr algn="l"/>
            <a:r>
              <a:rPr lang="en-US" sz="1700" b="0" i="0" dirty="0">
                <a:solidFill>
                  <a:srgbClr val="222222"/>
                </a:solidFill>
                <a:latin typeface="Century Gothic"/>
              </a:rPr>
              <a:t>16×2 LCD in 4-bit mode. RS→D7, E→D8, D4→D9, D5→D10, D6→D11, D7→D12. Contrast potentiometer on V0 pin. Backlight via 220Ω to 5V.</a:t>
            </a:r>
          </a:p>
          <a:p>
            <a:pPr algn="l"/>
            <a:endParaRPr lang="en-US" sz="1700" dirty="0">
              <a:solidFill>
                <a:srgbClr val="222222"/>
              </a:solidFill>
              <a:latin typeface="Century Gothic"/>
            </a:endParaRPr>
          </a:p>
          <a:p>
            <a:r>
              <a:rPr lang="en-US" sz="2000" b="1" dirty="0">
                <a:solidFill>
                  <a:srgbClr val="006400"/>
                </a:solidFill>
                <a:latin typeface="Century Gothic"/>
              </a:rPr>
              <a:t>Step 5 — Status LEDs</a:t>
            </a:r>
          </a:p>
          <a:p>
            <a:r>
              <a:rPr lang="en-US" sz="1700" dirty="0">
                <a:solidFill>
                  <a:srgbClr val="222222"/>
                </a:solidFill>
                <a:latin typeface="Century Gothic"/>
              </a:rPr>
              <a:t>Place 3× green LEDs (D5, D6, A4) for normal operation status. Place 1× red LED (D13) for overload alert</a:t>
            </a:r>
            <a:r>
              <a:rPr lang="en-US" sz="1700">
                <a:solidFill>
                  <a:srgbClr val="222222"/>
                </a:solidFill>
                <a:latin typeface="Century Gothic"/>
              </a:rPr>
              <a:t>. Place 3 blue LEDs to the three relays to indicate whether or not the device is working/on. Each </a:t>
            </a:r>
            <a:r>
              <a:rPr lang="en-US" sz="1700" dirty="0">
                <a:solidFill>
                  <a:srgbClr val="222222"/>
                </a:solidFill>
                <a:latin typeface="Century Gothic"/>
              </a:rPr>
              <a:t>LED connected via 220Ω current-limiting resistor to GND.</a:t>
            </a:r>
          </a:p>
          <a:p>
            <a:r>
              <a:rPr lang="en-US" sz="800" dirty="0">
                <a:latin typeface="Century Gothic"/>
              </a:rPr>
              <a:t> </a:t>
            </a:r>
          </a:p>
          <a:p>
            <a:r>
              <a:rPr lang="en-US" sz="2000" b="1" dirty="0">
                <a:solidFill>
                  <a:srgbClr val="006400"/>
                </a:solidFill>
                <a:latin typeface="Century Gothic"/>
              </a:rPr>
              <a:t>Step 6 — Buzzer + Load LEDs</a:t>
            </a:r>
          </a:p>
          <a:p>
            <a:r>
              <a:rPr lang="en-US" sz="1700" dirty="0">
                <a:solidFill>
                  <a:srgbClr val="222222"/>
                </a:solidFill>
                <a:latin typeface="Century Gothic"/>
              </a:rPr>
              <a:t>Piezo buzzer on A3 (used as digital output via tone()). 3× load LEDs representing the controlled devices — connected through relay NO contacts</a:t>
            </a:r>
            <a:endParaRPr lang="en-US" sz="1700" b="0" i="0" dirty="0">
              <a:solidFill>
                <a:srgbClr val="222222"/>
              </a:solidFill>
              <a:latin typeface="Century Gothic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0" name="Backgroun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1" name="TitleBar"/>
          <p:cNvSpPr txBox="1"/>
          <p:nvPr/>
        </p:nvSpPr>
        <p:spPr>
          <a:xfrm>
            <a:off x="914400" y="16042"/>
            <a:ext cx="10363200" cy="754053"/>
          </a:xfrm>
          <a:prstGeom prst="rect">
            <a:avLst/>
          </a:prstGeom>
          <a:solidFill>
            <a:srgbClr val="006400"/>
          </a:solidFill>
        </p:spPr>
        <p:txBody>
          <a:bodyPr wrap="square" lIns="91440" tIns="45720" rIns="91440" bIns="0" rtlCol="0">
            <a:spAutoFit/>
          </a:bodyPr>
          <a:lstStyle/>
          <a:p>
            <a:pPr algn="ctr"/>
            <a:r>
              <a:rPr lang="en-US" sz="2800" b="1" dirty="0">
                <a:solidFill>
                  <a:srgbClr val="FFFFFF"/>
                </a:solidFill>
                <a:latin typeface="Century Gothic"/>
              </a:rPr>
              <a:t>Code &amp; Documentation</a:t>
            </a:r>
            <a:br>
              <a:rPr lang="en-US" sz="1800" dirty="0">
                <a:latin typeface="Century Gothic"/>
              </a:rPr>
            </a:br>
            <a:endParaRPr lang="en-US" sz="1800" b="0" dirty="0">
              <a:solidFill>
                <a:srgbClr val="FFFFFF"/>
              </a:solidFill>
              <a:latin typeface="Century Gothic"/>
            </a:endParaRPr>
          </a:p>
        </p:txBody>
      </p:sp>
      <p:sp>
        <p:nvSpPr>
          <p:cNvPr id="102" name="ContentBox"/>
          <p:cNvSpPr txBox="1"/>
          <p:nvPr/>
        </p:nvSpPr>
        <p:spPr>
          <a:xfrm>
            <a:off x="914400" y="1304386"/>
            <a:ext cx="5090160" cy="48320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182880" tIns="91440" rIns="182880" bIns="91440" rtlCol="0">
            <a:normAutofit/>
          </a:bodyPr>
          <a:lstStyle/>
          <a:p>
            <a:pPr algn="l"/>
            <a:r>
              <a:rPr lang="en-US" sz="2000" b="1" i="0" dirty="0">
                <a:solidFill>
                  <a:srgbClr val="006400"/>
                </a:solidFill>
                <a:latin typeface="Century Gothic"/>
              </a:rPr>
              <a:t>Initialisation</a:t>
            </a:r>
          </a:p>
          <a:p>
            <a:pPr algn="l"/>
            <a:r>
              <a:rPr lang="en-US" sz="1700" b="1" i="0" dirty="0">
                <a:solidFill>
                  <a:srgbClr val="006400"/>
                </a:solidFill>
                <a:latin typeface="Century Gothic"/>
              </a:rPr>
              <a:t>setup(): </a:t>
            </a:r>
            <a:r>
              <a:rPr lang="en-US" sz="1700" b="0" i="0" dirty="0">
                <a:solidFill>
                  <a:srgbClr val="222222"/>
                </a:solidFill>
                <a:latin typeface="Century Gothic"/>
              </a:rPr>
              <a:t>LCD init, pin modes, all relays ON (HIGH), startup header to Serial Monitor</a:t>
            </a:r>
          </a:p>
          <a:p>
            <a:r>
              <a:rPr lang="en-US" sz="800" dirty="0">
                <a:latin typeface="Century Gothic"/>
              </a:rPr>
              <a:t> </a:t>
            </a:r>
          </a:p>
          <a:p>
            <a:pPr algn="l"/>
            <a:r>
              <a:rPr lang="en-US" sz="2000" b="1" i="0" dirty="0">
                <a:solidFill>
                  <a:srgbClr val="006400"/>
                </a:solidFill>
                <a:latin typeface="Century Gothic"/>
              </a:rPr>
              <a:t>Main Loop</a:t>
            </a:r>
          </a:p>
          <a:p>
            <a:pPr algn="l"/>
            <a:r>
              <a:rPr lang="en-US" sz="1700" b="1" i="0" dirty="0">
                <a:solidFill>
                  <a:srgbClr val="006400"/>
                </a:solidFill>
                <a:latin typeface="Century Gothic"/>
              </a:rPr>
              <a:t>loop(): </a:t>
            </a:r>
            <a:r>
              <a:rPr lang="en-US" sz="1700" b="0" i="0" dirty="0">
                <a:solidFill>
                  <a:srgbClr val="222222"/>
                </a:solidFill>
                <a:latin typeface="Century Gothic"/>
              </a:rPr>
              <a:t>Samples every 500ms, rotates LCD every 3s, dispatches to all subsystems</a:t>
            </a:r>
          </a:p>
          <a:p>
            <a:r>
              <a:rPr lang="en-US" sz="800" dirty="0">
                <a:latin typeface="Century Gothic"/>
              </a:rPr>
              <a:t> </a:t>
            </a:r>
          </a:p>
          <a:p>
            <a:pPr algn="l"/>
            <a:r>
              <a:rPr lang="en-US" sz="2000" b="1" i="0" dirty="0">
                <a:solidFill>
                  <a:srgbClr val="006400"/>
                </a:solidFill>
                <a:latin typeface="Century Gothic"/>
              </a:rPr>
              <a:t>Sensor Reading</a:t>
            </a:r>
          </a:p>
          <a:p>
            <a:pPr algn="l"/>
            <a:r>
              <a:rPr lang="en-US" sz="1700" b="1" i="0" dirty="0">
                <a:solidFill>
                  <a:srgbClr val="006400"/>
                </a:solidFill>
                <a:latin typeface="Century Gothic"/>
              </a:rPr>
              <a:t>readSensors(): </a:t>
            </a:r>
            <a:r>
              <a:rPr lang="en-US" sz="1700" b="0" i="0" dirty="0">
                <a:solidFill>
                  <a:srgbClr val="222222"/>
                </a:solidFill>
                <a:latin typeface="Century Gothic"/>
              </a:rPr>
              <a:t>Reads A0–A2. Maps raw 0–1023 to 0.00–3.00A via map()/100.0</a:t>
            </a:r>
          </a:p>
          <a:p>
            <a:r>
              <a:rPr lang="en-US" sz="800" dirty="0">
                <a:latin typeface="Century Gothic"/>
              </a:rPr>
              <a:t> </a:t>
            </a:r>
          </a:p>
          <a:p>
            <a:pPr algn="l"/>
            <a:r>
              <a:rPr lang="en-US" sz="2000" b="1" i="0" dirty="0">
                <a:solidFill>
                  <a:srgbClr val="006400"/>
                </a:solidFill>
                <a:latin typeface="Century Gothic"/>
              </a:rPr>
              <a:t>Power &amp; Energy</a:t>
            </a:r>
          </a:p>
          <a:p>
            <a:pPr algn="l"/>
            <a:r>
              <a:rPr lang="en-US" sz="1700" b="1" i="0" dirty="0">
                <a:solidFill>
                  <a:srgbClr val="006400"/>
                </a:solidFill>
                <a:latin typeface="Century Gothic"/>
              </a:rPr>
              <a:t>calculatePower(): </a:t>
            </a:r>
            <a:r>
              <a:rPr lang="en-US" sz="1700" b="0" i="0" dirty="0">
                <a:solidFill>
                  <a:srgbClr val="222222"/>
                </a:solidFill>
                <a:latin typeface="Century Gothic"/>
              </a:rPr>
              <a:t>P = 12 × I per device; total system power in Watts</a:t>
            </a:r>
          </a:p>
          <a:p>
            <a:pPr algn="l"/>
            <a:r>
              <a:rPr lang="en-US" sz="1700" b="1" i="0" dirty="0">
                <a:solidFill>
                  <a:srgbClr val="006400"/>
                </a:solidFill>
                <a:latin typeface="Century Gothic"/>
              </a:rPr>
              <a:t>accumulateEnergy(): </a:t>
            </a:r>
            <a:r>
              <a:rPr lang="en-US" sz="1700" b="0" i="0" dirty="0">
                <a:solidFill>
                  <a:srgbClr val="222222"/>
                </a:solidFill>
                <a:latin typeface="Century Gothic"/>
              </a:rPr>
              <a:t>E += P × (millis()-lastTime) / 3600000.0 to accumulate Wh</a:t>
            </a:r>
          </a:p>
        </p:txBody>
      </p:sp>
      <p:sp>
        <p:nvSpPr>
          <p:cNvPr id="2" name="ContentBox"/>
          <p:cNvSpPr txBox="1"/>
          <p:nvPr/>
        </p:nvSpPr>
        <p:spPr>
          <a:xfrm>
            <a:off x="6187440" y="1360266"/>
            <a:ext cx="5090160" cy="48320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182880" tIns="91440" rIns="182880" bIns="91440" rtlCol="0">
            <a:normAutofit/>
          </a:bodyPr>
          <a:lstStyle/>
          <a:p>
            <a:pPr algn="l"/>
            <a:r>
              <a:rPr lang="en-US" sz="2000" b="1" i="0" dirty="0">
                <a:solidFill>
                  <a:srgbClr val="006400"/>
                </a:solidFill>
                <a:latin typeface="Century Gothic"/>
              </a:rPr>
              <a:t>Overload Detection</a:t>
            </a:r>
          </a:p>
          <a:p>
            <a:pPr algn="l"/>
            <a:r>
              <a:rPr lang="en-US" sz="1700" b="1" i="0" dirty="0">
                <a:solidFill>
                  <a:srgbClr val="006400"/>
                </a:solidFill>
                <a:latin typeface="Century Gothic"/>
              </a:rPr>
              <a:t>checkOverload(): </a:t>
            </a:r>
            <a:r>
              <a:rPr lang="en-US" sz="1700" b="0" i="0" dirty="0">
                <a:solidFill>
                  <a:srgbClr val="222222"/>
                </a:solidFill>
                <a:latin typeface="Century Gothic"/>
              </a:rPr>
              <a:t>Trips relay LOW if current &gt;1.5A per device or &gt;4A system total</a:t>
            </a:r>
          </a:p>
          <a:p>
            <a:r>
              <a:rPr lang="en-US" sz="800" dirty="0">
                <a:latin typeface="Century Gothic"/>
              </a:rPr>
              <a:t> </a:t>
            </a:r>
          </a:p>
          <a:p>
            <a:pPr algn="l"/>
            <a:r>
              <a:rPr lang="en-US" sz="2000" b="1" i="0" dirty="0">
                <a:solidFill>
                  <a:srgbClr val="006400"/>
                </a:solidFill>
                <a:latin typeface="Century Gothic"/>
              </a:rPr>
              <a:t>Display &amp; Alerts</a:t>
            </a:r>
          </a:p>
          <a:p>
            <a:pPr algn="l"/>
            <a:r>
              <a:rPr lang="en-US" sz="1700" b="1" i="0" dirty="0">
                <a:solidFill>
                  <a:srgbClr val="006400"/>
                </a:solidFill>
                <a:latin typeface="Century Gothic"/>
              </a:rPr>
              <a:t>updateDisplay(): </a:t>
            </a:r>
            <a:r>
              <a:rPr lang="en-US" sz="1700" b="0" i="0" dirty="0">
                <a:solidFill>
                  <a:srgbClr val="222222"/>
                </a:solidFill>
                <a:latin typeface="Century Gothic"/>
              </a:rPr>
              <a:t>Rotates 4 pages: Device 1, Device 2, Device 3, System Summary every 3s</a:t>
            </a:r>
          </a:p>
          <a:p>
            <a:pPr algn="l"/>
            <a:r>
              <a:rPr lang="en-US" sz="1700" b="1" i="0" dirty="0">
                <a:solidFill>
                  <a:srgbClr val="006400"/>
                </a:solidFill>
                <a:latin typeface="Century Gothic"/>
              </a:rPr>
              <a:t>handleAlerts(): </a:t>
            </a:r>
            <a:r>
              <a:rPr lang="en-US" sz="1700" b="0" i="0" dirty="0">
                <a:solidFill>
                  <a:srgbClr val="222222"/>
                </a:solidFill>
                <a:latin typeface="Century Gothic"/>
              </a:rPr>
              <a:t>Two-tone buzzer (tone/noTone) + Red LED HIGH on any overload flag</a:t>
            </a:r>
          </a:p>
          <a:p>
            <a:r>
              <a:rPr lang="en-US" sz="800" dirty="0">
                <a:latin typeface="Century Gothic"/>
              </a:rPr>
              <a:t> </a:t>
            </a:r>
          </a:p>
          <a:p>
            <a:pPr algn="l"/>
            <a:r>
              <a:rPr lang="en-US" sz="2000" b="1" i="0" dirty="0">
                <a:solidFill>
                  <a:srgbClr val="006400"/>
                </a:solidFill>
                <a:latin typeface="Century Gothic"/>
              </a:rPr>
              <a:t>Debug Logger</a:t>
            </a:r>
          </a:p>
          <a:p>
            <a:pPr algn="l"/>
            <a:r>
              <a:rPr lang="en-US" sz="1700" b="1" i="0" dirty="0">
                <a:solidFill>
                  <a:srgbClr val="006400"/>
                </a:solidFill>
                <a:latin typeface="Century Gothic"/>
              </a:rPr>
              <a:t>serialReport(): </a:t>
            </a:r>
            <a:r>
              <a:rPr lang="en-US" sz="1700" b="0" i="0" dirty="0">
                <a:solidFill>
                  <a:srgbClr val="222222"/>
                </a:solidFill>
                <a:latin typeface="Century Gothic"/>
              </a:rPr>
              <a:t>Formatted current/power/status table to Serial Monitor every 500ms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0" name="Backgroun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60" y="0"/>
            <a:ext cx="12192000" cy="6858000"/>
          </a:xfrm>
          <a:prstGeom prst="rect">
            <a:avLst/>
          </a:prstGeom>
        </p:spPr>
      </p:pic>
      <p:sp>
        <p:nvSpPr>
          <p:cNvPr id="101" name="TitleBar"/>
          <p:cNvSpPr txBox="1"/>
          <p:nvPr/>
        </p:nvSpPr>
        <p:spPr>
          <a:xfrm>
            <a:off x="914400" y="16042"/>
            <a:ext cx="10363200" cy="754053"/>
          </a:xfrm>
          <a:prstGeom prst="rect">
            <a:avLst/>
          </a:prstGeom>
          <a:solidFill>
            <a:srgbClr val="006400"/>
          </a:solidFill>
        </p:spPr>
        <p:txBody>
          <a:bodyPr wrap="square" lIns="91440" tIns="45720" rIns="91440" bIns="0" rtlCol="0">
            <a:spAutoFit/>
          </a:bodyPr>
          <a:lstStyle/>
          <a:p>
            <a:pPr algn="ctr"/>
            <a:r>
              <a:rPr lang="en-US" sz="2800" b="1" dirty="0">
                <a:solidFill>
                  <a:srgbClr val="FFFFFF"/>
                </a:solidFill>
                <a:latin typeface="Century Gothic"/>
              </a:rPr>
              <a:t>Code Logic</a:t>
            </a:r>
            <a:br>
              <a:rPr lang="en-US" sz="1800" dirty="0">
                <a:latin typeface="Century Gothic"/>
              </a:rPr>
            </a:br>
            <a:endParaRPr lang="en-US" sz="1800" b="0" dirty="0">
              <a:solidFill>
                <a:srgbClr val="FFFFFF"/>
              </a:solidFill>
              <a:latin typeface="Century Gothic"/>
            </a:endParaRPr>
          </a:p>
        </p:txBody>
      </p:sp>
      <p:sp>
        <p:nvSpPr>
          <p:cNvPr id="102" name="ContentBox"/>
          <p:cNvSpPr txBox="1"/>
          <p:nvPr/>
        </p:nvSpPr>
        <p:spPr>
          <a:xfrm>
            <a:off x="914400" y="1478280"/>
            <a:ext cx="5090160" cy="48320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182880" tIns="91440" rIns="182880" bIns="91440" rtlCol="0">
            <a:normAutofit/>
          </a:bodyPr>
          <a:lstStyle/>
          <a:p>
            <a:pPr algn="l"/>
            <a:r>
              <a:rPr lang="en-US" sz="2000" b="1" i="0" dirty="0">
                <a:solidFill>
                  <a:srgbClr val="006400"/>
                </a:solidFill>
                <a:latin typeface="Century Gothic"/>
              </a:rPr>
              <a:t>No delay() Anywhere</a:t>
            </a:r>
          </a:p>
          <a:p>
            <a:pPr algn="l"/>
            <a:r>
              <a:rPr lang="en-US" sz="1700" b="0" i="0" dirty="0">
                <a:solidFill>
                  <a:srgbClr val="222222"/>
                </a:solidFill>
                <a:latin typeface="Century Gothic"/>
              </a:rPr>
              <a:t>millis()-based timing keeps LCD, Serial, and buzzer running concurrently without blocking any subsystem.</a:t>
            </a:r>
          </a:p>
          <a:p>
            <a:pPr algn="l"/>
            <a:r>
              <a:rPr lang="en-US" sz="1600" b="1" i="0" dirty="0">
                <a:solidFill>
                  <a:srgbClr val="006400"/>
                </a:solidFill>
                <a:latin typeface="Courier New"/>
              </a:rPr>
              <a:t>if(millis()-t &gt;= 500){ /* run */ }</a:t>
            </a:r>
          </a:p>
          <a:p>
            <a:r>
              <a:rPr lang="en-US" sz="800" dirty="0">
                <a:latin typeface="Century Gothic"/>
              </a:rPr>
              <a:t> </a:t>
            </a:r>
          </a:p>
          <a:p>
            <a:pPr algn="l"/>
            <a:r>
              <a:rPr lang="en-US" sz="2000" b="1" i="0" dirty="0">
                <a:solidFill>
                  <a:srgbClr val="006400"/>
                </a:solidFill>
                <a:latin typeface="Century Gothic"/>
              </a:rPr>
              <a:t>ADC → Current Mapping</a:t>
            </a:r>
          </a:p>
          <a:p>
            <a:pPr algn="l"/>
            <a:r>
              <a:rPr lang="en-US" sz="1700" b="0" i="0" dirty="0">
                <a:solidFill>
                  <a:srgbClr val="222222"/>
                </a:solidFill>
                <a:latin typeface="Century Gothic"/>
              </a:rPr>
              <a:t>Integer map then divide avoids messy float arithmetic. Clean 0.00–3.00A output from raw ADC.</a:t>
            </a:r>
          </a:p>
          <a:p>
            <a:pPr algn="l"/>
            <a:r>
              <a:rPr lang="en-US" sz="1600" b="1" i="0" dirty="0">
                <a:solidFill>
                  <a:srgbClr val="006400"/>
                </a:solidFill>
                <a:latin typeface="Courier New"/>
              </a:rPr>
              <a:t>current=map(raw,0,1023,0,300)/100.0;</a:t>
            </a:r>
          </a:p>
          <a:p>
            <a:r>
              <a:rPr lang="en-US" sz="800" dirty="0">
                <a:latin typeface="Century Gothic"/>
              </a:rPr>
              <a:t> </a:t>
            </a:r>
          </a:p>
          <a:p>
            <a:pPr algn="l"/>
            <a:r>
              <a:rPr lang="en-US" sz="2000" b="1" i="0" dirty="0">
                <a:solidFill>
                  <a:srgbClr val="006400"/>
                </a:solidFill>
                <a:latin typeface="Century Gothic"/>
              </a:rPr>
              <a:t>F() Macro Saves SRAM</a:t>
            </a:r>
          </a:p>
          <a:p>
            <a:pPr algn="l"/>
            <a:r>
              <a:rPr lang="en-US" sz="1700" b="0" i="0" dirty="0">
                <a:solidFill>
                  <a:srgbClr val="222222"/>
                </a:solidFill>
                <a:latin typeface="Century Gothic"/>
              </a:rPr>
              <a:t>All string literals wrapped in F() to store in Flash, freeing the ATmega's limited 2KB SRAM for data.</a:t>
            </a:r>
          </a:p>
        </p:txBody>
      </p:sp>
      <p:sp>
        <p:nvSpPr>
          <p:cNvPr id="2" name="ContentBox"/>
          <p:cNvSpPr txBox="1"/>
          <p:nvPr/>
        </p:nvSpPr>
        <p:spPr>
          <a:xfrm>
            <a:off x="6278880" y="1732280"/>
            <a:ext cx="5090160" cy="48320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182880" tIns="91440" rIns="182880" bIns="91440" rtlCol="0">
            <a:normAutofit/>
          </a:bodyPr>
          <a:lstStyle/>
          <a:p>
            <a:pPr algn="l"/>
            <a:r>
              <a:rPr lang="en-US" sz="2000" b="1" i="0" dirty="0">
                <a:solidFill>
                  <a:srgbClr val="006400"/>
                </a:solidFill>
                <a:latin typeface="Century Gothic"/>
              </a:rPr>
              <a:t>Relay Trip Logic</a:t>
            </a:r>
          </a:p>
          <a:p>
            <a:pPr algn="l"/>
            <a:r>
              <a:rPr lang="en-US" sz="1700" b="0" i="0" dirty="0">
                <a:solidFill>
                  <a:srgbClr val="222222"/>
                </a:solidFill>
                <a:latin typeface="Century Gothic"/>
              </a:rPr>
              <a:t>When current drops below threshold, relay returns HIGH automatically — demonstrates full trip &amp; restore cycle.</a:t>
            </a:r>
          </a:p>
          <a:p>
            <a:pPr algn="l"/>
            <a:r>
              <a:rPr lang="en-US" sz="1600" b="1" i="0" dirty="0">
                <a:solidFill>
                  <a:srgbClr val="006400"/>
                </a:solidFill>
                <a:latin typeface="Courier New"/>
              </a:rPr>
              <a:t>if(current &gt; THRESHOLD_A){</a:t>
            </a:r>
          </a:p>
          <a:p>
            <a:pPr algn="l"/>
            <a:r>
              <a:rPr lang="en-US" sz="1600" b="1" i="0" dirty="0">
                <a:solidFill>
                  <a:srgbClr val="006400"/>
                </a:solidFill>
                <a:latin typeface="Courier New"/>
              </a:rPr>
              <a:t>  digitalWrite(relayPin, LOW);</a:t>
            </a:r>
          </a:p>
          <a:p>
            <a:pPr algn="l"/>
            <a:r>
              <a:rPr lang="en-US" sz="1600" b="1" i="0" dirty="0">
                <a:solidFill>
                  <a:srgbClr val="006400"/>
                </a:solidFill>
                <a:latin typeface="Courier New"/>
              </a:rPr>
              <a:t>  overloadFlag = true; }</a:t>
            </a:r>
          </a:p>
          <a:p>
            <a:r>
              <a:rPr lang="en-US" sz="800" dirty="0">
                <a:latin typeface="Century Gothic"/>
              </a:rPr>
              <a:t> </a:t>
            </a:r>
          </a:p>
          <a:p>
            <a:pPr algn="l"/>
            <a:r>
              <a:rPr lang="en-US" sz="2000" b="1" i="0" dirty="0">
                <a:solidFill>
                  <a:srgbClr val="006400"/>
                </a:solidFill>
                <a:latin typeface="Century Gothic"/>
              </a:rPr>
              <a:t>Energy Accumulation</a:t>
            </a:r>
          </a:p>
          <a:p>
            <a:pPr algn="l"/>
            <a:r>
              <a:rPr lang="en-US" sz="1700" b="0" i="0" dirty="0">
                <a:solidFill>
                  <a:srgbClr val="222222"/>
                </a:solidFill>
                <a:latin typeface="Century Gothic"/>
              </a:rPr>
              <a:t>Wh accumulates proportionally to power over time using millisecond-accurate timing.</a:t>
            </a:r>
          </a:p>
          <a:p>
            <a:pPr algn="l"/>
            <a:r>
              <a:rPr lang="en-US" sz="1600" b="1" i="0" dirty="0">
                <a:solidFill>
                  <a:srgbClr val="006400"/>
                </a:solidFill>
                <a:latin typeface="Courier New"/>
              </a:rPr>
              <a:t>dt = millis() - lastTime;</a:t>
            </a:r>
          </a:p>
          <a:p>
            <a:pPr algn="l"/>
            <a:r>
              <a:rPr lang="en-US" sz="1600" b="1" i="0" dirty="0">
                <a:solidFill>
                  <a:srgbClr val="006400"/>
                </a:solidFill>
                <a:latin typeface="Courier New"/>
              </a:rPr>
              <a:t>energy += power*(dt/3600000.0);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0" name="Backgroun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60" y="0"/>
            <a:ext cx="12192000" cy="6858000"/>
          </a:xfrm>
          <a:prstGeom prst="rect">
            <a:avLst/>
          </a:prstGeom>
        </p:spPr>
      </p:pic>
      <p:sp>
        <p:nvSpPr>
          <p:cNvPr id="101" name="TitleBar"/>
          <p:cNvSpPr txBox="1"/>
          <p:nvPr/>
        </p:nvSpPr>
        <p:spPr>
          <a:xfrm>
            <a:off x="914400" y="16042"/>
            <a:ext cx="10363200" cy="754053"/>
          </a:xfrm>
          <a:prstGeom prst="rect">
            <a:avLst/>
          </a:prstGeom>
          <a:solidFill>
            <a:srgbClr val="006400"/>
          </a:solidFill>
        </p:spPr>
        <p:txBody>
          <a:bodyPr wrap="square" lIns="91440" tIns="45720" rIns="91440" bIns="0" rtlCol="0">
            <a:spAutoFit/>
          </a:bodyPr>
          <a:lstStyle/>
          <a:p>
            <a:pPr algn="ctr"/>
            <a:r>
              <a:rPr lang="en-US" sz="2800" b="1" dirty="0">
                <a:solidFill>
                  <a:srgbClr val="FFFFFF"/>
                </a:solidFill>
                <a:latin typeface="Century Gothic"/>
              </a:rPr>
              <a:t>Demonstration</a:t>
            </a:r>
            <a:br>
              <a:rPr lang="en-US" sz="1800" dirty="0">
                <a:latin typeface="Century Gothic"/>
              </a:rPr>
            </a:br>
            <a:endParaRPr lang="en-US" sz="1800" b="0" dirty="0">
              <a:solidFill>
                <a:srgbClr val="FFFFFF"/>
              </a:solidFill>
              <a:latin typeface="Century Gothic"/>
            </a:endParaRPr>
          </a:p>
        </p:txBody>
      </p:sp>
      <p:sp>
        <p:nvSpPr>
          <p:cNvPr id="102" name="ContentBox"/>
          <p:cNvSpPr txBox="1"/>
          <p:nvPr/>
        </p:nvSpPr>
        <p:spPr>
          <a:xfrm>
            <a:off x="914400" y="838200"/>
            <a:ext cx="10363200" cy="28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182880" tIns="91440" rIns="182880" bIns="91440" rtlCol="0">
            <a:normAutofit fontScale="85000" lnSpcReduction="20000"/>
          </a:bodyPr>
          <a:lstStyle/>
          <a:p>
            <a:pPr algn="l"/>
            <a:r>
              <a:rPr lang="en-US" sz="2200" b="1" i="0" dirty="0">
                <a:solidFill>
                  <a:srgbClr val="006400"/>
                </a:solidFill>
                <a:latin typeface="Century Gothic"/>
              </a:rPr>
              <a:t>Step-by-Step Test Procedure</a:t>
            </a:r>
          </a:p>
          <a:p>
            <a:r>
              <a:rPr lang="en-US" sz="400" dirty="0">
                <a:latin typeface="Century Gothic"/>
              </a:rPr>
              <a:t> </a:t>
            </a:r>
          </a:p>
          <a:p>
            <a:pPr algn="l"/>
            <a:r>
              <a:rPr lang="en-US" sz="1800" b="1" i="0" dirty="0">
                <a:solidFill>
                  <a:srgbClr val="006400"/>
                </a:solidFill>
                <a:latin typeface="Century Gothic"/>
              </a:rPr>
              <a:t>1  Start Simulation: </a:t>
            </a:r>
            <a:r>
              <a:rPr lang="en-US" sz="1800" b="0" i="0" dirty="0">
                <a:solidFill>
                  <a:srgbClr val="222222"/>
                </a:solidFill>
                <a:latin typeface="Century Gothic"/>
              </a:rPr>
              <a:t>All 3 load LEDs ON — relays HIGH. Green status LEDs D5/D6 lit. LCD initialises with startup header.</a:t>
            </a:r>
          </a:p>
          <a:p>
            <a:r>
              <a:rPr lang="en-US" sz="800" dirty="0">
                <a:latin typeface="Century Gothic"/>
              </a:rPr>
              <a:t> </a:t>
            </a:r>
          </a:p>
          <a:p>
            <a:pPr algn="l"/>
            <a:r>
              <a:rPr lang="en-US" sz="1800" b="1" i="0" dirty="0">
                <a:solidFill>
                  <a:srgbClr val="006400"/>
                </a:solidFill>
                <a:latin typeface="Century Gothic"/>
              </a:rPr>
              <a:t>2  LCD Cycles Pages: </a:t>
            </a:r>
            <a:r>
              <a:rPr lang="en-US" sz="1800" b="0" i="0" dirty="0">
                <a:solidFill>
                  <a:srgbClr val="222222"/>
                </a:solidFill>
                <a:latin typeface="Century Gothic"/>
              </a:rPr>
              <a:t>Every 3 seconds rotates: Dev1 → Dev2 → Dev3 → Summary. Current + Power + Wh shown on each page.</a:t>
            </a:r>
          </a:p>
          <a:p>
            <a:r>
              <a:rPr lang="en-US" sz="800" dirty="0">
                <a:latin typeface="Century Gothic"/>
              </a:rPr>
              <a:t> </a:t>
            </a:r>
          </a:p>
          <a:p>
            <a:pPr algn="l"/>
            <a:r>
              <a:rPr lang="en-US" sz="1800" b="1" i="0" dirty="0">
                <a:solidFill>
                  <a:srgbClr val="006400"/>
                </a:solidFill>
                <a:latin typeface="Century Gothic"/>
              </a:rPr>
              <a:t>3  Rotate Potentiometers: </a:t>
            </a:r>
            <a:r>
              <a:rPr lang="en-US" sz="1800" b="0" i="0" dirty="0">
                <a:solidFill>
                  <a:srgbClr val="222222"/>
                </a:solidFill>
                <a:latin typeface="Century Gothic"/>
              </a:rPr>
              <a:t>Turning CW increases simulated current. LCD values update every 500ms in real-time.</a:t>
            </a:r>
          </a:p>
          <a:p>
            <a:r>
              <a:rPr lang="en-US" sz="800" dirty="0">
                <a:latin typeface="Century Gothic"/>
              </a:rPr>
              <a:t> </a:t>
            </a:r>
          </a:p>
          <a:p>
            <a:pPr algn="l"/>
            <a:r>
              <a:rPr lang="en-US" sz="1800" b="1" i="0" dirty="0">
                <a:solidFill>
                  <a:srgbClr val="006400"/>
                </a:solidFill>
                <a:latin typeface="Century Gothic"/>
              </a:rPr>
              <a:t>4  Serial Monitor: </a:t>
            </a:r>
            <a:r>
              <a:rPr lang="en-US" sz="1800" b="0" i="0" dirty="0">
                <a:solidFill>
                  <a:srgbClr val="222222"/>
                </a:solidFill>
                <a:latin typeface="Century Gothic"/>
              </a:rPr>
              <a:t>Open at 9600 baud. Tabular output: Device | Current | Power | Status — updates every 500ms continuously.</a:t>
            </a:r>
          </a:p>
          <a:p>
            <a:r>
              <a:rPr lang="en-US" sz="800" dirty="0">
                <a:latin typeface="Century Gothic"/>
              </a:rPr>
              <a:t> </a:t>
            </a:r>
          </a:p>
          <a:p>
            <a:pPr algn="l"/>
            <a:r>
              <a:rPr lang="en-US" sz="1800" b="1" i="0" dirty="0">
                <a:solidFill>
                  <a:srgbClr val="006400"/>
                </a:solidFill>
                <a:latin typeface="Century Gothic"/>
              </a:rPr>
              <a:t>5  Energy Accumulates: </a:t>
            </a:r>
            <a:r>
              <a:rPr lang="en-US" sz="1800" b="0" i="0" dirty="0">
                <a:solidFill>
                  <a:srgbClr val="222222"/>
                </a:solidFill>
                <a:latin typeface="Century Gothic"/>
              </a:rPr>
              <a:t>Summary page (Page 4) shows Wh growing over time, proportional to total power load.</a:t>
            </a:r>
          </a:p>
        </p:txBody>
      </p:sp>
      <p:sp>
        <p:nvSpPr>
          <p:cNvPr id="6" name="ContentBox"/>
          <p:cNvSpPr txBox="1"/>
          <p:nvPr/>
        </p:nvSpPr>
        <p:spPr>
          <a:xfrm>
            <a:off x="843280" y="3429000"/>
            <a:ext cx="5090160" cy="28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182880" tIns="91440" rIns="182880" bIns="91440" rtlCol="0">
            <a:normAutofit/>
          </a:bodyPr>
          <a:lstStyle/>
          <a:p>
            <a:pPr algn="l"/>
            <a:r>
              <a:rPr lang="en-US" sz="2000" b="1" i="0" dirty="0">
                <a:solidFill>
                  <a:srgbClr val="8B0000"/>
                </a:solidFill>
                <a:latin typeface="Century Gothic"/>
              </a:rPr>
              <a:t>TEST A — Single Device Overload</a:t>
            </a:r>
          </a:p>
          <a:p>
            <a:r>
              <a:rPr lang="en-US" sz="200" dirty="0">
                <a:latin typeface="Century Gothic"/>
              </a:rPr>
              <a:t> </a:t>
            </a:r>
          </a:p>
          <a:p>
            <a:pPr algn="l"/>
            <a:r>
              <a:rPr lang="en-US" sz="1700" b="1" i="0" dirty="0">
                <a:solidFill>
                  <a:srgbClr val="006400"/>
                </a:solidFill>
                <a:latin typeface="Century Gothic"/>
              </a:rPr>
              <a:t>Action: </a:t>
            </a:r>
            <a:r>
              <a:rPr lang="en-US" sz="1700" b="0" i="0" dirty="0">
                <a:solidFill>
                  <a:srgbClr val="222222"/>
                </a:solidFill>
                <a:latin typeface="Century Gothic"/>
              </a:rPr>
              <a:t>Rotate POT1 fully CW (~3.0A)</a:t>
            </a:r>
          </a:p>
          <a:p>
            <a:pPr algn="l"/>
            <a:r>
              <a:rPr lang="en-US" sz="1700" b="1" i="0" dirty="0">
                <a:solidFill>
                  <a:srgbClr val="006400"/>
                </a:solidFill>
                <a:latin typeface="Century Gothic"/>
              </a:rPr>
              <a:t>Result: </a:t>
            </a:r>
            <a:r>
              <a:rPr lang="en-US" sz="1700" b="0" i="0" dirty="0">
                <a:solidFill>
                  <a:srgbClr val="222222"/>
                </a:solidFill>
                <a:latin typeface="Century Gothic"/>
              </a:rPr>
              <a:t>Relay 1 trips → D1 LED goes OFF</a:t>
            </a:r>
          </a:p>
          <a:p>
            <a:pPr algn="l"/>
            <a:r>
              <a:rPr lang="en-US" sz="1700" b="1" i="0" dirty="0">
                <a:solidFill>
                  <a:srgbClr val="006400"/>
                </a:solidFill>
                <a:latin typeface="Century Gothic"/>
              </a:rPr>
              <a:t>LCD: </a:t>
            </a:r>
            <a:r>
              <a:rPr lang="en-US" sz="1700" b="0" i="0" dirty="0">
                <a:solidFill>
                  <a:srgbClr val="222222"/>
                </a:solidFill>
                <a:latin typeface="Century Gothic"/>
              </a:rPr>
              <a:t>Shows '!! OVERLOAD !! D1: 2.95A &gt; 1.5A'</a:t>
            </a:r>
          </a:p>
          <a:p>
            <a:pPr algn="l"/>
            <a:r>
              <a:rPr lang="en-US" sz="1700" b="1" i="0" dirty="0">
                <a:solidFill>
                  <a:srgbClr val="006400"/>
                </a:solidFill>
                <a:latin typeface="Century Gothic"/>
              </a:rPr>
              <a:t>Alerts: </a:t>
            </a:r>
            <a:r>
              <a:rPr lang="en-US" sz="1700" b="0" i="0" dirty="0">
                <a:solidFill>
                  <a:srgbClr val="222222"/>
                </a:solidFill>
                <a:latin typeface="Century Gothic"/>
              </a:rPr>
              <a:t>Red LED D13 ON + Buzzer two-tone alarm</a:t>
            </a:r>
          </a:p>
          <a:p>
            <a:pPr algn="l"/>
            <a:r>
              <a:rPr lang="en-US" sz="1700" b="1" i="0" dirty="0">
                <a:solidFill>
                  <a:srgbClr val="006400"/>
                </a:solidFill>
                <a:latin typeface="Century Gothic"/>
              </a:rPr>
              <a:t>Restore: </a:t>
            </a:r>
            <a:r>
              <a:rPr lang="en-US" sz="1700" b="0" i="0" dirty="0">
                <a:solidFill>
                  <a:srgbClr val="222222"/>
                </a:solidFill>
                <a:latin typeface="Century Gothic"/>
              </a:rPr>
              <a:t>Reduce POT1 &lt; 1.5A → auto-reconnects</a:t>
            </a:r>
          </a:p>
        </p:txBody>
      </p:sp>
      <p:sp>
        <p:nvSpPr>
          <p:cNvPr id="7" name="ContentBox"/>
          <p:cNvSpPr txBox="1"/>
          <p:nvPr/>
        </p:nvSpPr>
        <p:spPr>
          <a:xfrm>
            <a:off x="6187440" y="3510280"/>
            <a:ext cx="5161280" cy="3154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182880" tIns="91440" rIns="182880" bIns="91440" rtlCol="0">
            <a:normAutofit fontScale="92500" lnSpcReduction="20000"/>
          </a:bodyPr>
          <a:lstStyle/>
          <a:p>
            <a:pPr algn="l"/>
            <a:r>
              <a:rPr lang="en-US" sz="2000" b="1" i="0" dirty="0">
                <a:solidFill>
                  <a:srgbClr val="8B0000"/>
                </a:solidFill>
                <a:latin typeface="Century Gothic"/>
              </a:rPr>
              <a:t>TEST B — System-Wide Overload</a:t>
            </a:r>
          </a:p>
          <a:p>
            <a:r>
              <a:rPr lang="en-US" sz="200" dirty="0">
                <a:latin typeface="Century Gothic"/>
              </a:rPr>
              <a:t> </a:t>
            </a:r>
          </a:p>
          <a:p>
            <a:pPr algn="l"/>
            <a:r>
              <a:rPr lang="en-US" sz="1700" b="1" i="0" dirty="0">
                <a:solidFill>
                  <a:srgbClr val="006400"/>
                </a:solidFill>
                <a:latin typeface="Century Gothic"/>
              </a:rPr>
              <a:t>Setup: </a:t>
            </a:r>
            <a:r>
              <a:rPr lang="en-US" sz="1700" b="0" i="0" dirty="0">
                <a:solidFill>
                  <a:srgbClr val="222222"/>
                </a:solidFill>
                <a:latin typeface="Century Gothic"/>
              </a:rPr>
              <a:t>All 3 POTs at 70% (~2A each → 6A total)</a:t>
            </a:r>
          </a:p>
          <a:p>
            <a:pPr algn="l"/>
            <a:r>
              <a:rPr lang="en-US" sz="1700" b="1" i="0" dirty="0">
                <a:solidFill>
                  <a:srgbClr val="006400"/>
                </a:solidFill>
                <a:latin typeface="Century Gothic"/>
              </a:rPr>
              <a:t>Limit: </a:t>
            </a:r>
            <a:r>
              <a:rPr lang="en-US" sz="1700" b="0" i="0" dirty="0">
                <a:solidFill>
                  <a:srgbClr val="222222"/>
                </a:solidFill>
                <a:latin typeface="Century Gothic"/>
              </a:rPr>
              <a:t>System threshold: 4A — 6A exceeds it</a:t>
            </a:r>
          </a:p>
          <a:p>
            <a:pPr algn="l"/>
            <a:r>
              <a:rPr lang="en-US" sz="1700" b="1" i="0" dirty="0">
                <a:solidFill>
                  <a:srgbClr val="006400"/>
                </a:solidFill>
                <a:latin typeface="Century Gothic"/>
              </a:rPr>
              <a:t>Result: </a:t>
            </a:r>
            <a:r>
              <a:rPr lang="en-US" sz="1700" b="0" i="0" dirty="0">
                <a:solidFill>
                  <a:srgbClr val="222222"/>
                </a:solidFill>
                <a:latin typeface="Century Gothic"/>
              </a:rPr>
              <a:t>ALL 3 relays trip simultaneously</a:t>
            </a:r>
          </a:p>
          <a:p>
            <a:pPr algn="l"/>
            <a:r>
              <a:rPr lang="en-US" sz="1700" b="1" i="0" dirty="0">
                <a:solidFill>
                  <a:srgbClr val="006400"/>
                </a:solidFill>
                <a:latin typeface="Century Gothic"/>
              </a:rPr>
              <a:t>Display: </a:t>
            </a:r>
            <a:r>
              <a:rPr lang="en-US" sz="1700" b="0" i="0" dirty="0">
                <a:solidFill>
                  <a:srgbClr val="222222"/>
                </a:solidFill>
                <a:latin typeface="Century Gothic"/>
              </a:rPr>
              <a:t>LCD: 'SYS D1 D2 D3' overload screen</a:t>
            </a:r>
          </a:p>
          <a:p>
            <a:pPr algn="l"/>
            <a:r>
              <a:rPr lang="en-US" sz="1700" b="1" i="0" dirty="0">
                <a:solidFill>
                  <a:srgbClr val="006400"/>
                </a:solidFill>
                <a:latin typeface="Century Gothic"/>
              </a:rPr>
              <a:t>Restore: </a:t>
            </a:r>
            <a:r>
              <a:rPr lang="en-US" sz="1700" b="0" i="0" dirty="0">
                <a:solidFill>
                  <a:srgbClr val="222222"/>
                </a:solidFill>
                <a:latin typeface="Century Gothic"/>
              </a:rPr>
              <a:t>Reduce all pots → all channels reconnect</a:t>
            </a:r>
          </a:p>
          <a:p>
            <a:r>
              <a:rPr lang="en-US" sz="800" dirty="0">
                <a:latin typeface="Century Gothic"/>
              </a:rPr>
              <a:t> </a:t>
            </a:r>
          </a:p>
          <a:p>
            <a:pPr algn="l"/>
            <a:r>
              <a:rPr lang="en-US" sz="1900" b="1" i="0" dirty="0">
                <a:solidFill>
                  <a:srgbClr val="006400"/>
                </a:solidFill>
                <a:latin typeface="Century Gothic"/>
              </a:rPr>
              <a:t>Verified Behaviours</a:t>
            </a:r>
          </a:p>
          <a:p>
            <a:pPr marL="342900" indent="-342900">
              <a:buChar char="●"/>
            </a:pPr>
            <a:r>
              <a:rPr lang="en-US" sz="1600" b="0" i="0" dirty="0">
                <a:solidFill>
                  <a:srgbClr val="222222"/>
                </a:solidFill>
                <a:latin typeface="Century Gothic"/>
              </a:rPr>
              <a:t>Relay trips exactly at 1.5A/device and 4A system total</a:t>
            </a:r>
          </a:p>
          <a:p>
            <a:pPr marL="342900" indent="-342900">
              <a:buChar char="●"/>
            </a:pPr>
            <a:r>
              <a:rPr lang="en-US" sz="1600" b="0" i="0" dirty="0">
                <a:solidFill>
                  <a:srgbClr val="222222"/>
                </a:solidFill>
                <a:latin typeface="Century Gothic"/>
              </a:rPr>
              <a:t>All 3 relays reconnect automatically when load drops</a:t>
            </a:r>
          </a:p>
          <a:p>
            <a:pPr marL="342900" indent="-342900">
              <a:buChar char="●"/>
            </a:pPr>
            <a:r>
              <a:rPr lang="en-US" sz="1600" b="0" i="0" dirty="0">
                <a:solidFill>
                  <a:srgbClr val="222222"/>
                </a:solidFill>
                <a:latin typeface="Century Gothic"/>
              </a:rPr>
              <a:t>LCD and Serial both refresh every 500ms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0" name="Background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60" y="0"/>
            <a:ext cx="12192000" cy="6858000"/>
          </a:xfrm>
          <a:prstGeom prst="rect">
            <a:avLst/>
          </a:prstGeom>
        </p:spPr>
      </p:pic>
      <p:sp>
        <p:nvSpPr>
          <p:cNvPr id="101" name="TitleBar"/>
          <p:cNvSpPr txBox="1"/>
          <p:nvPr/>
        </p:nvSpPr>
        <p:spPr>
          <a:xfrm>
            <a:off x="914400" y="16042"/>
            <a:ext cx="10363200" cy="754053"/>
          </a:xfrm>
          <a:prstGeom prst="rect">
            <a:avLst/>
          </a:prstGeom>
          <a:solidFill>
            <a:srgbClr val="006400"/>
          </a:solidFill>
        </p:spPr>
        <p:txBody>
          <a:bodyPr wrap="square" lIns="91440" tIns="45720" rIns="91440" bIns="0" rtlCol="0">
            <a:spAutoFit/>
          </a:bodyPr>
          <a:lstStyle/>
          <a:p>
            <a:pPr algn="ctr"/>
            <a:r>
              <a:rPr lang="en-US" sz="2800" b="1" dirty="0">
                <a:solidFill>
                  <a:srgbClr val="FFFFFF"/>
                </a:solidFill>
                <a:latin typeface="Century Gothic"/>
              </a:rPr>
              <a:t>Demonstration — simulation of test A</a:t>
            </a:r>
            <a:br>
              <a:rPr lang="en-US" sz="1800" dirty="0">
                <a:latin typeface="Century Gothic"/>
              </a:rPr>
            </a:br>
            <a:endParaRPr lang="en-US" sz="1800" b="0" dirty="0">
              <a:solidFill>
                <a:srgbClr val="FFFFFF"/>
              </a:solidFill>
              <a:latin typeface="Century Gothic"/>
            </a:endParaRPr>
          </a:p>
        </p:txBody>
      </p:sp>
      <p:pic>
        <p:nvPicPr>
          <p:cNvPr id="3" name="Video Project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 rotWithShape="1">
          <a:blip r:embed="rId6"/>
          <a:srcRect t="10019" b="5472"/>
          <a:stretch/>
        </p:blipFill>
        <p:spPr>
          <a:xfrm>
            <a:off x="914400" y="1361439"/>
            <a:ext cx="10494151" cy="498856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0" name="Backgroun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1" name="TitleBar"/>
          <p:cNvSpPr txBox="1"/>
          <p:nvPr/>
        </p:nvSpPr>
        <p:spPr>
          <a:xfrm>
            <a:off x="914400" y="16042"/>
            <a:ext cx="10363200" cy="754053"/>
          </a:xfrm>
          <a:prstGeom prst="rect">
            <a:avLst/>
          </a:prstGeom>
          <a:solidFill>
            <a:srgbClr val="006400"/>
          </a:solidFill>
        </p:spPr>
        <p:txBody>
          <a:bodyPr wrap="square" lIns="91440" tIns="45720" rIns="91440" bIns="0" rtlCol="0">
            <a:spAutoFit/>
          </a:bodyPr>
          <a:lstStyle/>
          <a:p>
            <a:pPr algn="ctr"/>
            <a:r>
              <a:rPr lang="en-US" sz="2800" b="1" dirty="0">
                <a:solidFill>
                  <a:srgbClr val="FFFFFF"/>
                </a:solidFill>
                <a:latin typeface="Century Gothic"/>
              </a:rPr>
              <a:t>Outputs &amp; Verification</a:t>
            </a:r>
            <a:br>
              <a:rPr lang="en-US" sz="1800" dirty="0">
                <a:latin typeface="Century Gothic"/>
              </a:rPr>
            </a:br>
            <a:endParaRPr lang="en-US" sz="1800" b="0" dirty="0">
              <a:solidFill>
                <a:srgbClr val="FFFFFF"/>
              </a:solidFill>
              <a:latin typeface="Century Gothic"/>
            </a:endParaRPr>
          </a:p>
        </p:txBody>
      </p:sp>
      <p:sp>
        <p:nvSpPr>
          <p:cNvPr id="102" name="ContentBox"/>
          <p:cNvSpPr txBox="1"/>
          <p:nvPr/>
        </p:nvSpPr>
        <p:spPr>
          <a:xfrm>
            <a:off x="914400" y="2128520"/>
            <a:ext cx="10363200" cy="5389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182880" tIns="91440" rIns="182880" bIns="91440" rtlCol="0">
            <a:normAutofit/>
          </a:bodyPr>
          <a:lstStyle/>
          <a:p>
            <a:pPr algn="l"/>
            <a:r>
              <a:rPr lang="en-US" sz="2200" b="1" i="0" dirty="0">
                <a:solidFill>
                  <a:srgbClr val="006400"/>
                </a:solidFill>
                <a:latin typeface="Century Gothic"/>
              </a:rPr>
              <a:t>Verification Summary</a:t>
            </a:r>
          </a:p>
          <a:p>
            <a:r>
              <a:rPr lang="en-US" sz="300" dirty="0">
                <a:latin typeface="Century Gothic"/>
              </a:rPr>
              <a:t> </a:t>
            </a:r>
          </a:p>
          <a:p>
            <a:pPr algn="l"/>
            <a:r>
              <a:rPr lang="en-US" sz="1800" b="1" i="0" dirty="0">
                <a:solidFill>
                  <a:srgbClr val="006400"/>
                </a:solidFill>
                <a:latin typeface="Century Gothic"/>
              </a:rPr>
              <a:t>Real-time Update: </a:t>
            </a:r>
            <a:r>
              <a:rPr lang="en-US" sz="1800" b="0" i="0" dirty="0">
                <a:solidFill>
                  <a:srgbClr val="222222"/>
                </a:solidFill>
                <a:latin typeface="Century Gothic"/>
              </a:rPr>
              <a:t>LCD and Serial both refresh every 500ms — live values verified during simulation.</a:t>
            </a:r>
          </a:p>
          <a:p>
            <a:r>
              <a:rPr lang="en-US" sz="200" dirty="0">
                <a:latin typeface="Century Gothic"/>
              </a:rPr>
              <a:t> </a:t>
            </a:r>
          </a:p>
          <a:p>
            <a:pPr algn="l"/>
            <a:r>
              <a:rPr lang="en-US" sz="1800" b="1" i="0" dirty="0">
                <a:solidFill>
                  <a:srgbClr val="006400"/>
                </a:solidFill>
                <a:latin typeface="Century Gothic"/>
              </a:rPr>
              <a:t>Threshold Accurate: </a:t>
            </a:r>
            <a:r>
              <a:rPr lang="en-US" sz="1800" b="0" i="0" dirty="0">
                <a:solidFill>
                  <a:srgbClr val="222222"/>
                </a:solidFill>
                <a:latin typeface="Century Gothic"/>
              </a:rPr>
              <a:t>Relay trips exactly at 1.5A/device and 4A system total — no false trips observed.</a:t>
            </a:r>
          </a:p>
          <a:p>
            <a:r>
              <a:rPr lang="en-US" sz="200" dirty="0">
                <a:latin typeface="Century Gothic"/>
              </a:rPr>
              <a:t> </a:t>
            </a:r>
          </a:p>
          <a:p>
            <a:pPr algn="l"/>
            <a:r>
              <a:rPr lang="en-US" sz="1800" b="1" i="0" dirty="0">
                <a:solidFill>
                  <a:srgbClr val="006400"/>
                </a:solidFill>
                <a:latin typeface="Century Gothic"/>
              </a:rPr>
              <a:t>Auto-Restore Works: </a:t>
            </a:r>
            <a:r>
              <a:rPr lang="en-US" sz="1800" b="0" i="0" dirty="0">
                <a:solidFill>
                  <a:srgbClr val="222222"/>
                </a:solidFill>
                <a:latin typeface="Century Gothic"/>
              </a:rPr>
              <a:t>All 3 relays reconnect automatically when load drops below threshold.</a:t>
            </a:r>
          </a:p>
          <a:p>
            <a:r>
              <a:rPr lang="en-US" sz="200" dirty="0">
                <a:latin typeface="Century Gothic"/>
              </a:rPr>
              <a:t> </a:t>
            </a:r>
          </a:p>
          <a:p>
            <a:pPr algn="l"/>
            <a:r>
              <a:rPr lang="en-US" sz="1800" b="1" i="0" dirty="0">
                <a:solidFill>
                  <a:srgbClr val="006400"/>
                </a:solidFill>
                <a:latin typeface="Century Gothic"/>
              </a:rPr>
              <a:t>Wh Grows Correctly: </a:t>
            </a:r>
            <a:r>
              <a:rPr lang="en-US" sz="1800" b="0" i="0" dirty="0">
                <a:solidFill>
                  <a:srgbClr val="222222"/>
                </a:solidFill>
                <a:latin typeface="Century Gothic"/>
              </a:rPr>
              <a:t>Energy accumulation proportional to power — verified over 2-minute test runs.</a:t>
            </a:r>
          </a:p>
          <a:p>
            <a:r>
              <a:rPr lang="en-US" sz="400" dirty="0">
                <a:latin typeface="Century Gothic"/>
              </a:rPr>
              <a:t> 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0" name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1" name="TitleBar"/>
          <p:cNvSpPr txBox="1"/>
          <p:nvPr/>
        </p:nvSpPr>
        <p:spPr>
          <a:xfrm>
            <a:off x="914400" y="16042"/>
            <a:ext cx="10363200" cy="566822"/>
          </a:xfrm>
          <a:prstGeom prst="rect">
            <a:avLst/>
          </a:prstGeom>
          <a:solidFill>
            <a:srgbClr val="006400"/>
          </a:solidFill>
        </p:spPr>
        <p:txBody>
          <a:bodyPr wrap="square" lIns="91440" tIns="45720" rIns="91440" bIns="0" rtlCol="0">
            <a:spAutoFit/>
          </a:bodyPr>
          <a:lstStyle/>
          <a:p>
            <a:pPr algn="ctr"/>
            <a:r>
              <a:rPr lang="en-US" sz="2800" b="1" dirty="0">
                <a:solidFill>
                  <a:srgbClr val="FFFFFF"/>
                </a:solidFill>
                <a:latin typeface="Century Gothic"/>
              </a:rPr>
              <a:t>Conclusion</a:t>
            </a:r>
          </a:p>
        </p:txBody>
      </p:sp>
      <p:sp>
        <p:nvSpPr>
          <p:cNvPr id="102" name="ContentBox"/>
          <p:cNvSpPr txBox="1"/>
          <p:nvPr/>
        </p:nvSpPr>
        <p:spPr>
          <a:xfrm>
            <a:off x="914400" y="1304386"/>
            <a:ext cx="5090160" cy="48320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182880" tIns="91440" rIns="182880" bIns="91440" rtlCol="0">
            <a:normAutofit/>
          </a:bodyPr>
          <a:lstStyle/>
          <a:p>
            <a:pPr algn="l"/>
            <a:r>
              <a:rPr lang="en-US" sz="2200" b="1" i="0" dirty="0">
                <a:solidFill>
                  <a:srgbClr val="006400"/>
                </a:solidFill>
                <a:latin typeface="Century Gothic"/>
              </a:rPr>
              <a:t>Findings</a:t>
            </a:r>
          </a:p>
          <a:p>
            <a:r>
              <a:rPr lang="en-US" sz="200" dirty="0">
                <a:latin typeface="Century Gothic"/>
              </a:rPr>
              <a:t> </a:t>
            </a:r>
          </a:p>
          <a:p>
            <a:pPr marL="342900" indent="-342900">
              <a:buChar char="●"/>
            </a:pPr>
            <a:r>
              <a:rPr lang="en-US" sz="1700" b="0" i="0" dirty="0">
                <a:solidFill>
                  <a:srgbClr val="222222"/>
                </a:solidFill>
                <a:latin typeface="Century Gothic"/>
              </a:rPr>
              <a:t>Successfully built 3-device smart energy monitor on Arduino Uno</a:t>
            </a:r>
          </a:p>
          <a:p>
            <a:pPr marL="342900" indent="-342900">
              <a:buChar char="●"/>
            </a:pPr>
            <a:r>
              <a:rPr lang="en-US" sz="1700" b="0" i="0" dirty="0">
                <a:solidFill>
                  <a:srgbClr val="222222"/>
                </a:solidFill>
                <a:latin typeface="Century Gothic"/>
              </a:rPr>
              <a:t>Relay overload protection trips and auto-restores correctly in simulation</a:t>
            </a:r>
          </a:p>
          <a:p>
            <a:pPr marL="342900" indent="-342900">
              <a:buChar char="●"/>
            </a:pPr>
            <a:r>
              <a:rPr lang="en-US" sz="1700" b="0" i="0" dirty="0">
                <a:solidFill>
                  <a:srgbClr val="222222"/>
                </a:solidFill>
                <a:latin typeface="Century Gothic"/>
              </a:rPr>
              <a:t>LCD rotates 4 info pages; Serial Monitor logs values every 500ms</a:t>
            </a:r>
          </a:p>
          <a:p>
            <a:pPr marL="342900" indent="-342900">
              <a:buChar char="●"/>
            </a:pPr>
            <a:r>
              <a:rPr lang="en-US" sz="1700" b="0" i="0" dirty="0">
                <a:solidFill>
                  <a:srgbClr val="222222"/>
                </a:solidFill>
                <a:latin typeface="Century Gothic"/>
              </a:rPr>
              <a:t>Wh energy accumulation verified to grow proportionally with power load</a:t>
            </a:r>
          </a:p>
          <a:p>
            <a:r>
              <a:rPr lang="en-US" sz="600" dirty="0">
                <a:latin typeface="Century Gothic"/>
              </a:rPr>
              <a:t> </a:t>
            </a:r>
          </a:p>
          <a:p>
            <a:pPr algn="l"/>
            <a:r>
              <a:rPr lang="en-US" sz="2200" b="1" i="0" dirty="0">
                <a:solidFill>
                  <a:srgbClr val="006400"/>
                </a:solidFill>
                <a:latin typeface="Century Gothic"/>
              </a:rPr>
              <a:t>Challenges</a:t>
            </a:r>
          </a:p>
          <a:p>
            <a:r>
              <a:rPr lang="en-US" sz="200" dirty="0">
                <a:latin typeface="Century Gothic"/>
              </a:rPr>
              <a:t> </a:t>
            </a:r>
          </a:p>
          <a:p>
            <a:pPr marL="342900" indent="-342900">
              <a:buChar char="●"/>
            </a:pPr>
            <a:r>
              <a:rPr lang="en-US" sz="1700" b="0" i="0" dirty="0">
                <a:solidFill>
                  <a:srgbClr val="222222"/>
                </a:solidFill>
                <a:latin typeface="Century Gothic"/>
              </a:rPr>
              <a:t>TinkerCad lacks ACS712 sensor — potentiometers used as substitutes</a:t>
            </a:r>
          </a:p>
          <a:p>
            <a:pPr marL="342900" indent="-342900">
              <a:buChar char="●"/>
            </a:pPr>
            <a:r>
              <a:rPr lang="en-US" sz="1700" b="0" i="0" dirty="0">
                <a:solidFill>
                  <a:srgbClr val="222222"/>
                </a:solidFill>
                <a:latin typeface="Century Gothic"/>
              </a:rPr>
              <a:t>Coordinating 3 concurrent millis()-based tasks without delay() calls</a:t>
            </a:r>
          </a:p>
          <a:p>
            <a:pPr marL="342900" indent="-342900">
              <a:buChar char="●"/>
            </a:pPr>
            <a:r>
              <a:rPr lang="en-US" sz="1700" b="0" i="0" dirty="0">
                <a:solidFill>
                  <a:srgbClr val="222222"/>
                </a:solidFill>
                <a:latin typeface="Century Gothic"/>
              </a:rPr>
              <a:t>Physical implementation of 16 x 2 LCD display</a:t>
            </a:r>
          </a:p>
        </p:txBody>
      </p:sp>
      <p:sp>
        <p:nvSpPr>
          <p:cNvPr id="2" name="ContentBox"/>
          <p:cNvSpPr txBox="1"/>
          <p:nvPr/>
        </p:nvSpPr>
        <p:spPr>
          <a:xfrm>
            <a:off x="6278880" y="1711960"/>
            <a:ext cx="5090160" cy="48320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182880" tIns="91440" rIns="182880" bIns="91440" rtlCol="0">
            <a:normAutofit/>
          </a:bodyPr>
          <a:lstStyle/>
          <a:p>
            <a:pPr algn="l"/>
            <a:r>
              <a:rPr lang="en-US" sz="2200" b="1" i="0" dirty="0">
                <a:solidFill>
                  <a:srgbClr val="006400"/>
                </a:solidFill>
                <a:latin typeface="Century Gothic"/>
              </a:rPr>
              <a:t>Improvements</a:t>
            </a:r>
          </a:p>
          <a:p>
            <a:r>
              <a:rPr lang="en-US" sz="200" dirty="0">
                <a:latin typeface="Century Gothic"/>
              </a:rPr>
              <a:t> </a:t>
            </a:r>
          </a:p>
          <a:p>
            <a:pPr marL="342900" indent="-342900">
              <a:buChar char="●"/>
            </a:pPr>
            <a:r>
              <a:rPr lang="en-US" sz="1700" b="0" i="0" dirty="0">
                <a:solidFill>
                  <a:srgbClr val="222222"/>
                </a:solidFill>
                <a:latin typeface="Century Gothic"/>
              </a:rPr>
              <a:t>Real ACS712-05B Hall-effect sensors for true physical current measurement</a:t>
            </a:r>
          </a:p>
          <a:p>
            <a:pPr marL="342900" indent="-342900">
              <a:buChar char="●"/>
            </a:pPr>
            <a:r>
              <a:rPr lang="en-US" sz="1700" b="0" i="0" dirty="0">
                <a:solidFill>
                  <a:srgbClr val="222222"/>
                </a:solidFill>
                <a:latin typeface="Century Gothic"/>
              </a:rPr>
              <a:t>IoT: ESP8266 / SIM800L for cloud dashboard or SMS overload alerts</a:t>
            </a:r>
          </a:p>
          <a:p>
            <a:pPr marL="342900" indent="-342900">
              <a:buChar char="●"/>
            </a:pPr>
            <a:r>
              <a:rPr lang="en-US" sz="1700" b="0" i="0" dirty="0">
                <a:solidFill>
                  <a:srgbClr val="222222"/>
                </a:solidFill>
                <a:latin typeface="Century Gothic"/>
              </a:rPr>
              <a:t>EEPROM or SD card for persistent timestamped energy consumption logging</a:t>
            </a:r>
          </a:p>
          <a:p>
            <a:pPr marL="342900" indent="-342900">
              <a:buChar char="●"/>
            </a:pPr>
            <a:r>
              <a:rPr lang="en-US" sz="1700" b="0" i="0" dirty="0">
                <a:solidFill>
                  <a:srgbClr val="222222"/>
                </a:solidFill>
                <a:latin typeface="Century Gothic"/>
              </a:rPr>
              <a:t>Real-time clock for time-stamped reports and billing</a:t>
            </a:r>
          </a:p>
          <a:p>
            <a:r>
              <a:rPr lang="en-US" sz="800" dirty="0">
                <a:latin typeface="Century Gothic"/>
              </a:rPr>
              <a:t> </a:t>
            </a:r>
          </a:p>
          <a:p>
            <a:pPr algn="ctr"/>
            <a:r>
              <a:rPr lang="en-US" sz="2200" b="1" i="0" dirty="0">
                <a:solidFill>
                  <a:srgbClr val="8B0000"/>
                </a:solidFill>
                <a:latin typeface="Century Gothic"/>
              </a:rPr>
              <a:t>Thank You  |  Questions Welcome</a:t>
            </a:r>
          </a:p>
          <a:p>
            <a:pPr algn="ctr"/>
            <a:r>
              <a:rPr lang="en-US" sz="1700" b="0" i="0" dirty="0">
                <a:solidFill>
                  <a:srgbClr val="006400"/>
                </a:solidFill>
                <a:latin typeface="Century Gothic"/>
              </a:rPr>
              <a:t>COE 381 — KNUST Department of Computer Engineering  |  Group 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00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146</TotalTime>
  <Words>1715</Words>
  <Application>Microsoft Office PowerPoint</Application>
  <PresentationFormat>Widescreen</PresentationFormat>
  <Paragraphs>264</Paragraphs>
  <Slides>13</Slides>
  <Notes>12</Notes>
  <HiddenSlides>0</HiddenSlides>
  <MMClips>1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4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 Energy Monitor with Overload Protection</dc:title>
  <dc:subject>PptxGenJS Presentation</dc:subject>
  <dc:creator>PptxGenJS</dc:creator>
  <cp:lastModifiedBy>David Azare</cp:lastModifiedBy>
  <cp:revision>7</cp:revision>
  <dcterms:created xsi:type="dcterms:W3CDTF">2026-03-24T20:37:25Z</dcterms:created>
  <dcterms:modified xsi:type="dcterms:W3CDTF">2026-03-29T23:49:30Z</dcterms:modified>
</cp:coreProperties>
</file>